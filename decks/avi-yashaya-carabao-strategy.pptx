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02336"/>
          </a:xfrm>
          <a:prstGeom prst="rect">
            <a:avLst/>
          </a:prstGeom>
          <a:solidFill>
            <a:srgbClr val="12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1100" b="1">
                <a:solidFill>
                  <a:srgbClr val="ABB9D5"/>
                </a:solidFill>
                <a:latin typeface="Calibri"/>
              </a:defRPr>
            </a:pPr>
            <a:r>
              <a:t>CARABAO BREWERY | LONG-TERM STRATEGY | AVI YASHAYA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8138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Calibri"/>
              </a:defRPr>
            </a:pPr>
            <a:r>
              <a:t>Get Brand Identity On Par With Operational Modernization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BB9D5"/>
                </a:solidFill>
                <a:latin typeface="Calibri"/>
              </a:defRPr>
            </a:pPr>
            <a:r>
              <a:t>A focused growth blueprint for Carabao Brewery built by Avi Yashaya, Partner &amp; CEO of Mahanakhon Beverages.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148840"/>
            <a:ext cx="6492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8FF"/>
                </a:solidFill>
                <a:latin typeface="Calibri"/>
              </a:defRPr>
            </a:pPr>
            <a:r>
              <a:t>10+ years building beverage systems across Thailand, Vietnam, and Laos.</a:t>
            </a:r>
          </a:p>
          <a:p>
            <a:pPr>
              <a:spcAft>
                <a:spcPts val="800"/>
              </a:spcAft>
              <a:defRPr sz="1700">
                <a:solidFill>
                  <a:srgbClr val="F5F8FF"/>
                </a:solidFill>
                <a:latin typeface="Calibri"/>
              </a:defRPr>
            </a:pPr>
            <a:r>
              <a:t>Global sourcing + regional production model proven in beer, spirits, and RTD.</a:t>
            </a:r>
          </a:p>
          <a:p>
            <a:pPr>
              <a:spcAft>
                <a:spcPts val="800"/>
              </a:spcAft>
              <a:defRPr sz="1700">
                <a:solidFill>
                  <a:srgbClr val="F5F8FF"/>
                </a:solidFill>
                <a:latin typeface="Calibri"/>
              </a:defRPr>
            </a:pPr>
            <a:r>
              <a:t>Direct track record: products generating $2M+ annual retail and on-trade sell-through.</a:t>
            </a:r>
          </a:p>
          <a:p>
            <a:pPr>
              <a:spcAft>
                <a:spcPts val="800"/>
              </a:spcAft>
              <a:defRPr sz="1700">
                <a:solidFill>
                  <a:srgbClr val="F5F8FF"/>
                </a:solidFill>
                <a:latin typeface="Calibri"/>
              </a:defRPr>
            </a:pPr>
            <a:r>
              <a:t>Goal: reposition Carabao beer from volume play to modern relevance and profitable share gain.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14400"/>
            <a:ext cx="4023360" cy="2011680"/>
          </a:xfrm>
          <a:prstGeom prst="roundRect">
            <a:avLst/>
          </a:prstGeom>
          <a:solidFill>
            <a:srgbClr val="172135"/>
          </a:solidFill>
          <a:ln>
            <a:solidFill>
              <a:srgbClr val="43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raba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097280"/>
            <a:ext cx="3383280" cy="1645920"/>
          </a:xfrm>
          <a:prstGeom prst="rect">
            <a:avLst/>
          </a:prstGeom>
        </p:spPr>
      </p:pic>
      <p:pic>
        <p:nvPicPr>
          <p:cNvPr id="10" name="Picture 9" descr="carabao_la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273552"/>
            <a:ext cx="1143000" cy="1645920"/>
          </a:xfrm>
          <a:prstGeom prst="rect">
            <a:avLst/>
          </a:prstGeom>
        </p:spPr>
      </p:pic>
      <p:pic>
        <p:nvPicPr>
          <p:cNvPr id="11" name="Picture 10" descr="leo_supre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273552"/>
            <a:ext cx="1143000" cy="1645920"/>
          </a:xfrm>
          <a:prstGeom prst="rect">
            <a:avLst/>
          </a:prstGeom>
        </p:spPr>
      </p:pic>
      <p:pic>
        <p:nvPicPr>
          <p:cNvPr id="12" name="Picture 11" descr="singha_rese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0" y="3273552"/>
            <a:ext cx="1143000" cy="1645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6272784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1220"/>
                </a:solidFill>
                <a:latin typeface="Calibri"/>
              </a:defRPr>
            </a:pPr>
            <a:r>
              <a:t>Avi Yashaya | aviyashaya@gmail.com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02336"/>
          </a:xfrm>
          <a:prstGeom prst="rect">
            <a:avLst/>
          </a:prstGeom>
          <a:solidFill>
            <a:srgbClr val="12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1100" b="1">
                <a:solidFill>
                  <a:srgbClr val="ABB9D5"/>
                </a:solidFill>
                <a:latin typeface="Calibri"/>
              </a:defRPr>
            </a:pPr>
            <a:r>
              <a:t>PROBLEM 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138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Calibri"/>
              </a:defRPr>
            </a:pPr>
            <a:r>
              <a:t>The Double-Edged Dilemma in Thai Beer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440680" cy="4526280"/>
          </a:xfrm>
          <a:prstGeom prst="roundRect">
            <a:avLst/>
          </a:prstGeom>
          <a:solidFill>
            <a:srgbClr val="172135"/>
          </a:solidFill>
          <a:ln>
            <a:solidFill>
              <a:srgbClr val="3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SME ambition vs. industrial reality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High MOQs, complex logistics, and tight cash cycles punish innovation speed.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6792" y="1645920"/>
            <a:ext cx="5166360" cy="4526280"/>
          </a:xfrm>
          <a:prstGeom prst="roundRect">
            <a:avLst/>
          </a:prstGeom>
          <a:solidFill>
            <a:srgbClr val="222C42"/>
          </a:solidFill>
          <a:ln>
            <a:solidFill>
              <a:srgbClr val="3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Incumbent scale vs. cultural velocity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Large players optimize plants but often launch too slowly for new urban demand patterns.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468880"/>
            <a:ext cx="4892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Growth is constrained by production economics before consumer demand is validated.</a:t>
            </a:r>
          </a:p>
          <a:p>
            <a:pPr>
              <a:spcAft>
                <a:spcPts val="9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Commercial teams discount to move volume instead of improving brand value.</a:t>
            </a:r>
          </a:p>
          <a:p>
            <a:pPr>
              <a:spcAft>
                <a:spcPts val="9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Brand architecture remains traditional while young urban drinkers move to lifestyle-driven choices.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4688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Data arrives late by the time products reach market.</a:t>
            </a:r>
          </a:p>
          <a:p>
            <a:pPr>
              <a:spcAft>
                <a:spcPts val="9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Core identity can become functional and price-led rather than aspirational.</a:t>
            </a:r>
          </a:p>
          <a:p>
            <a:pPr>
              <a:spcAft>
                <a:spcPts val="9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Result: SAM is under-penetrated and SOM growth stalls.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02336"/>
          </a:xfrm>
          <a:prstGeom prst="rect">
            <a:avLst/>
          </a:prstGeom>
          <a:solidFill>
            <a:srgbClr val="12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1100" b="1">
                <a:solidFill>
                  <a:srgbClr val="ABB9D5"/>
                </a:solidFill>
                <a:latin typeface="Calibri"/>
              </a:defRPr>
            </a:pPr>
            <a:r>
              <a:t>FIVE BRANDING 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138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Calibri"/>
              </a:defRPr>
            </a:pPr>
            <a:r>
              <a:t>Thai Beer Positioning Is Not One Market, It Is Five Frames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2148840" cy="2194560"/>
          </a:xfrm>
          <a:prstGeom prst="roundRect">
            <a:avLst/>
          </a:prstGeom>
          <a:solidFill>
            <a:srgbClr val="172135"/>
          </a:solidFill>
          <a:ln>
            <a:solidFill>
              <a:srgbClr val="3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1) Animal / Power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Chang, Leo, Carabao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53512" y="1783080"/>
            <a:ext cx="2148840" cy="2194560"/>
          </a:xfrm>
          <a:prstGeom prst="roundRect">
            <a:avLst/>
          </a:prstGeom>
          <a:solidFill>
            <a:srgbClr val="172135"/>
          </a:solidFill>
          <a:ln>
            <a:solidFill>
              <a:srgbClr val="3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2) Myth / Heritage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Singha, Chao Sungthong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21224" y="1783080"/>
            <a:ext cx="2148840" cy="2194560"/>
          </a:xfrm>
          <a:prstGeom prst="roundRect">
            <a:avLst/>
          </a:prstGeom>
          <a:solidFill>
            <a:srgbClr val="172135"/>
          </a:solidFill>
          <a:ln>
            <a:solidFill>
              <a:srgbClr val="3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3) Geographic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Mahanakhon, Chiang Mai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88936" y="1783080"/>
            <a:ext cx="2148840" cy="2194560"/>
          </a:xfrm>
          <a:prstGeom prst="roundRect">
            <a:avLst/>
          </a:prstGeom>
          <a:solidFill>
            <a:srgbClr val="172135"/>
          </a:solidFill>
          <a:ln>
            <a:solidFill>
              <a:srgbClr val="3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4) Subculture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Outlaw craft, gatekept niches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56648" y="1783080"/>
            <a:ext cx="1828800" cy="2194560"/>
          </a:xfrm>
          <a:prstGeom prst="roundRect">
            <a:avLst/>
          </a:prstGeom>
          <a:solidFill>
            <a:srgbClr val="213A2E"/>
          </a:solidFill>
          <a:ln>
            <a:solidFill>
              <a:srgbClr val="3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5) Modern Aspirational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The open growth gap</a:t>
            </a:r>
          </a:p>
        </p:txBody>
      </p:sp>
      <p:pic>
        <p:nvPicPr>
          <p:cNvPr id="10" name="Picture 9" descr="chang_class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606040"/>
            <a:ext cx="530352" cy="713232"/>
          </a:xfrm>
          <a:prstGeom prst="rect">
            <a:avLst/>
          </a:prstGeom>
        </p:spPr>
      </p:pic>
      <p:pic>
        <p:nvPicPr>
          <p:cNvPr id="11" name="Picture 10" descr="leo_be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2606040"/>
            <a:ext cx="530352" cy="713232"/>
          </a:xfrm>
          <a:prstGeom prst="rect">
            <a:avLst/>
          </a:prstGeom>
        </p:spPr>
      </p:pic>
      <p:pic>
        <p:nvPicPr>
          <p:cNvPr id="12" name="Picture 11" descr="carabao_l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552" y="2606040"/>
            <a:ext cx="530352" cy="713232"/>
          </a:xfrm>
          <a:prstGeom prst="rect">
            <a:avLst/>
          </a:prstGeom>
        </p:spPr>
      </p:pic>
      <p:pic>
        <p:nvPicPr>
          <p:cNvPr id="13" name="Picture 12" descr="singh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2487168"/>
            <a:ext cx="731520" cy="868680"/>
          </a:xfrm>
          <a:prstGeom prst="rect">
            <a:avLst/>
          </a:prstGeom>
        </p:spPr>
      </p:pic>
      <p:pic>
        <p:nvPicPr>
          <p:cNvPr id="14" name="Picture 13" descr="chao_sungtho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0" y="2578608"/>
            <a:ext cx="658368" cy="841248"/>
          </a:xfrm>
          <a:prstGeom prst="rect">
            <a:avLst/>
          </a:prstGeom>
        </p:spPr>
      </p:pic>
      <p:pic>
        <p:nvPicPr>
          <p:cNvPr id="15" name="Picture 14" descr="mahanakhon_white_a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7880" y="2578608"/>
            <a:ext cx="777240" cy="7863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9808" y="425196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Masscult/traditional frames still dominate spend, but growth is shifting toward culturally fluent lifestyle positioning.</a:t>
            </a:r>
          </a:p>
          <a:p>
            <a:pPr>
              <a:spcAft>
                <a:spcPts val="8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Frame 5 is where younger urban consumers reward style, social signaling, and daily-luxury accessibility.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02336"/>
          </a:xfrm>
          <a:prstGeom prst="rect">
            <a:avLst/>
          </a:prstGeom>
          <a:solidFill>
            <a:srgbClr val="12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1100" b="1">
                <a:solidFill>
                  <a:srgbClr val="ABB9D5"/>
                </a:solidFill>
                <a:latin typeface="Calibri"/>
              </a:defRPr>
            </a:pPr>
            <a:r>
              <a:t>CURRENT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138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Calibri"/>
              </a:defRPr>
            </a:pPr>
            <a:r>
              <a:t>Where Current Framing Limits Growth Velocity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737360"/>
            <a:ext cx="3703320" cy="4480560"/>
          </a:xfrm>
          <a:prstGeom prst="roundRect">
            <a:avLst/>
          </a:prstGeom>
          <a:solidFill>
            <a:srgbClr val="172135"/>
          </a:solidFill>
          <a:ln>
            <a:solidFill>
              <a:srgbClr val="3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Carabao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Strong awareness, but still coded by many younger urbanites as 'heavy worker' or 'cheap night out'.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53712" y="1737360"/>
            <a:ext cx="3703320" cy="4480560"/>
          </a:xfrm>
          <a:prstGeom prst="roundRect">
            <a:avLst/>
          </a:prstGeom>
          <a:solidFill>
            <a:srgbClr val="172135"/>
          </a:solidFill>
          <a:ln>
            <a:solidFill>
              <a:srgbClr val="3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Tawandang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High familiarity, but can feel rigid or 'what my dad drinks' in modern casual lifestyle spaces.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94192" y="1737360"/>
            <a:ext cx="3108960" cy="4480560"/>
          </a:xfrm>
          <a:prstGeom prst="roundRect">
            <a:avLst/>
          </a:prstGeom>
          <a:solidFill>
            <a:srgbClr val="172135"/>
          </a:solidFill>
          <a:ln>
            <a:solidFill>
              <a:srgbClr val="3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Pattaya / Phuket / CNX labels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Local relevance can trap brands in a tourist-frame and reduce national scalability.</a:t>
            </a:r>
          </a:p>
        </p:txBody>
      </p:sp>
      <p:pic>
        <p:nvPicPr>
          <p:cNvPr id="8" name="Picture 7" descr="caraba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3200400"/>
            <a:ext cx="2560320" cy="1051560"/>
          </a:xfrm>
          <a:prstGeom prst="rect">
            <a:avLst/>
          </a:prstGeom>
        </p:spPr>
      </p:pic>
      <p:pic>
        <p:nvPicPr>
          <p:cNvPr id="9" name="Picture 8" descr="tawandang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200400"/>
            <a:ext cx="2834640" cy="1051560"/>
          </a:xfrm>
          <a:prstGeom prst="rect">
            <a:avLst/>
          </a:prstGeom>
        </p:spPr>
      </p:pic>
      <p:pic>
        <p:nvPicPr>
          <p:cNvPr id="10" name="Picture 9" descr="leo_be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3017520"/>
            <a:ext cx="219456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02336"/>
          </a:xfrm>
          <a:prstGeom prst="rect">
            <a:avLst/>
          </a:prstGeom>
          <a:solidFill>
            <a:srgbClr val="12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1100" b="1">
                <a:solidFill>
                  <a:srgbClr val="ABB9D5"/>
                </a:solidFill>
                <a:latin typeface="Calibri"/>
              </a:defRPr>
            </a:pPr>
            <a:r>
              <a:t>SAM TO SOM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138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Calibri"/>
              </a:defRPr>
            </a:pPr>
            <a:r>
              <a:t>Carabao Beer Presentation Is Not Optimized for SAM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749039" cy="4206240"/>
          </a:xfrm>
          <a:prstGeom prst="roundRect">
            <a:avLst/>
          </a:prstGeom>
          <a:solidFill>
            <a:srgbClr val="172135"/>
          </a:solidFill>
          <a:ln>
            <a:solidFill>
              <a:srgbClr val="3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Current state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Strong distribution logic, weaker lifestyle translation in premium-adjacent urban occasions.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53712" y="1828800"/>
            <a:ext cx="3749039" cy="4206240"/>
          </a:xfrm>
          <a:prstGeom prst="roundRect">
            <a:avLst/>
          </a:prstGeom>
          <a:solidFill>
            <a:srgbClr val="1D372D"/>
          </a:solidFill>
          <a:ln>
            <a:solidFill>
              <a:srgbClr val="3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Unlock SAM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Reframe identity into modern-retro aspirational cues without losing Thai mass resonance.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75904" y="1828800"/>
            <a:ext cx="3154680" cy="4206240"/>
          </a:xfrm>
          <a:prstGeom prst="roundRect">
            <a:avLst/>
          </a:prstGeom>
          <a:solidFill>
            <a:srgbClr val="332421"/>
          </a:solidFill>
          <a:ln>
            <a:solidFill>
              <a:srgbClr val="3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Increase SOM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Product and pack upgrades convert broader addressable audience into repeat buyers.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74320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Price-led</a:t>
            </a:r>
          </a:p>
          <a:p>
            <a:pPr>
              <a:spcAft>
                <a:spcPts val="8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Segment-coded</a:t>
            </a:r>
          </a:p>
          <a:p>
            <a:pPr>
              <a:spcAft>
                <a:spcPts val="8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Limited aspiration cues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74320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Modernized visual language</a:t>
            </a:r>
          </a:p>
          <a:p>
            <a:pPr>
              <a:spcAft>
                <a:spcPts val="8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Occasion-specific proposition</a:t>
            </a:r>
          </a:p>
          <a:p>
            <a:pPr>
              <a:spcAft>
                <a:spcPts val="8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Urban social proof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Higher trade-up rate</a:t>
            </a:r>
          </a:p>
          <a:p>
            <a:pPr>
              <a:spcAft>
                <a:spcPts val="8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Better margin mix</a:t>
            </a:r>
          </a:p>
          <a:p>
            <a:pPr>
              <a:spcAft>
                <a:spcPts val="8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Higher share in high-value outlets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02336"/>
          </a:xfrm>
          <a:prstGeom prst="rect">
            <a:avLst/>
          </a:prstGeom>
          <a:solidFill>
            <a:srgbClr val="12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1100" b="1">
                <a:solidFill>
                  <a:srgbClr val="ABB9D5"/>
                </a:solidFill>
                <a:latin typeface="Calibri"/>
              </a:defRPr>
            </a:pPr>
            <a:r>
              <a:t>PROOF OF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138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Calibri"/>
              </a:defRPr>
            </a:pPr>
            <a:r>
              <a:t>Boon Rawd Shows the Playbook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532120" cy="4526280"/>
          </a:xfrm>
          <a:prstGeom prst="roundRect">
            <a:avLst/>
          </a:prstGeom>
          <a:solidFill>
            <a:srgbClr val="172135"/>
          </a:solidFill>
          <a:ln>
            <a:solidFill>
              <a:srgbClr val="3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Example: Leo Supreme + Singha Reserve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Classic brand equity extended into premiumized, modernized sub-lines.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83080"/>
            <a:ext cx="5074920" cy="4526280"/>
          </a:xfrm>
          <a:prstGeom prst="roundRect">
            <a:avLst/>
          </a:prstGeom>
          <a:solidFill>
            <a:srgbClr val="222C42"/>
          </a:solidFill>
          <a:ln>
            <a:solidFill>
              <a:srgbClr val="3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Strategic implication for Carabao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Retain mass-scale strengths while building a modern aspirational tier to expand profitable share.</a:t>
            </a:r>
          </a:p>
        </p:txBody>
      </p:sp>
      <p:pic>
        <p:nvPicPr>
          <p:cNvPr id="7" name="Picture 6" descr="leo_supr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743200"/>
            <a:ext cx="2148840" cy="2148840"/>
          </a:xfrm>
          <a:prstGeom prst="rect">
            <a:avLst/>
          </a:prstGeom>
        </p:spPr>
      </p:pic>
      <p:pic>
        <p:nvPicPr>
          <p:cNvPr id="8" name="Picture 7" descr="singha_rese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761488"/>
            <a:ext cx="2304288" cy="2103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29400" y="2743200"/>
            <a:ext cx="4617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Use premium line extensions to reset brand perception without abandoning core volume.</a:t>
            </a:r>
          </a:p>
          <a:p>
            <a:pPr>
              <a:spcAft>
                <a:spcPts val="8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Anchor identity in clearer lifestyle codes (not only traditional category cues).</a:t>
            </a:r>
          </a:p>
          <a:p>
            <a:pPr>
              <a:spcAft>
                <a:spcPts val="8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Build faster innovation loops tied to channel-specific consumer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02336"/>
          </a:xfrm>
          <a:prstGeom prst="rect">
            <a:avLst/>
          </a:prstGeom>
          <a:solidFill>
            <a:srgbClr val="12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1100" b="1">
                <a:solidFill>
                  <a:srgbClr val="ABB9D5"/>
                </a:solidFill>
                <a:latin typeface="Calibri"/>
              </a:defRPr>
            </a:pPr>
            <a:r>
              <a:t>RELEVANT CREDIBILITY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138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Calibri"/>
              </a:defRPr>
            </a:pPr>
            <a:r>
              <a:t>Mahanakhon: From Geographic Niche to Aspirational Relevance</a:t>
            </a:r>
          </a:p>
        </p:txBody>
      </p:sp>
      <p:pic>
        <p:nvPicPr>
          <p:cNvPr id="5" name="Picture 4" descr="mahanakhon_white_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11680"/>
            <a:ext cx="237744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20440" y="1828800"/>
            <a:ext cx="7498079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5F8FF"/>
                </a:solidFill>
                <a:latin typeface="Calibri"/>
              </a:defRPr>
            </a:pPr>
            <a:r>
              <a:t>We had to solve the same Frame-3 trap: local pride alone was not enough to scale.</a:t>
            </a:r>
          </a:p>
          <a:p>
            <a:pPr>
              <a:spcAft>
                <a:spcPts val="1100"/>
              </a:spcAft>
              <a:defRPr sz="1600">
                <a:solidFill>
                  <a:srgbClr val="F5F8FF"/>
                </a:solidFill>
                <a:latin typeface="Calibri"/>
              </a:defRPr>
            </a:pPr>
            <a:r>
              <a:t>Shifted through collaboration, social awareness, and aspirational storytelling.</a:t>
            </a:r>
          </a:p>
          <a:p>
            <a:pPr>
              <a:spcAft>
                <a:spcPts val="1100"/>
              </a:spcAft>
              <a:defRPr sz="1600">
                <a:solidFill>
                  <a:srgbClr val="F5F8FF"/>
                </a:solidFill>
                <a:latin typeface="Calibri"/>
              </a:defRPr>
            </a:pPr>
            <a:r>
              <a:t>Linked brand language with commercial systems: sourcing, production, and route-to-market cadence.</a:t>
            </a:r>
          </a:p>
          <a:p>
            <a:pPr>
              <a:spcAft>
                <a:spcPts val="1100"/>
              </a:spcAft>
              <a:defRPr sz="1600">
                <a:solidFill>
                  <a:srgbClr val="F5F8FF"/>
                </a:solidFill>
                <a:latin typeface="Calibri"/>
              </a:defRPr>
            </a:pPr>
            <a:r>
              <a:t>Result: sustained product traction and $2M+ annual sell-through across retail and on-trade.</a:t>
            </a:r>
          </a:p>
          <a:p>
            <a:pPr>
              <a:spcAft>
                <a:spcPts val="1100"/>
              </a:spcAft>
              <a:defRPr sz="1600">
                <a:solidFill>
                  <a:srgbClr val="F5F8FF"/>
                </a:solidFill>
                <a:latin typeface="Calibri"/>
              </a:defRPr>
            </a:pPr>
            <a:r>
              <a:t>This operating path is directly portable to Carabao's beer reset.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02336"/>
          </a:xfrm>
          <a:prstGeom prst="rect">
            <a:avLst/>
          </a:prstGeom>
          <a:solidFill>
            <a:srgbClr val="12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1100" b="1">
                <a:solidFill>
                  <a:srgbClr val="ABB9D5"/>
                </a:solidFill>
                <a:latin typeface="Calibri"/>
              </a:defRPr>
            </a:pPr>
            <a:r>
              <a:t>ACTION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138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Calibri"/>
              </a:defRPr>
            </a:pPr>
            <a:r>
              <a:t>Action Plan: Identity + Product + Commercial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606040" cy="4206240"/>
          </a:xfrm>
          <a:prstGeom prst="roundRect">
            <a:avLst/>
          </a:prstGeom>
          <a:solidFill>
            <a:srgbClr val="172135"/>
          </a:solidFill>
          <a:ln>
            <a:solidFill>
              <a:srgbClr val="F5B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Phase 1 | Reframe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Rebuild visual and verbal identity around modern Thai confidence, not low-price cues.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2011680"/>
            <a:ext cx="2606040" cy="4206240"/>
          </a:xfrm>
          <a:prstGeom prst="roundRect">
            <a:avLst/>
          </a:prstGeom>
          <a:solidFill>
            <a:srgbClr val="172135"/>
          </a:solidFill>
          <a:ln>
            <a:solidFill>
              <a:srgbClr val="5EC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Phase 2 | Product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Launch targeted line upgrades (liquid profile, pack architecture, and occasion fit).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011680"/>
            <a:ext cx="2606040" cy="4206240"/>
          </a:xfrm>
          <a:prstGeom prst="roundRect">
            <a:avLst/>
          </a:prstGeom>
          <a:solidFill>
            <a:srgbClr val="172135"/>
          </a:solidFill>
          <a:ln>
            <a:solidFill>
              <a:srgbClr val="63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Phase 3 | Route-to-Market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Prioritize outlets where perception and margin uplift can happen fastest.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2011680"/>
            <a:ext cx="2606040" cy="4206240"/>
          </a:xfrm>
          <a:prstGeom prst="roundRect">
            <a:avLst/>
          </a:prstGeom>
          <a:solidFill>
            <a:srgbClr val="172135"/>
          </a:solidFill>
          <a:ln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Phase 4 | Scale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Codify playbook and expand once premium-to-core halo effect is measurable.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02336"/>
          </a:xfrm>
          <a:prstGeom prst="rect">
            <a:avLst/>
          </a:prstGeom>
          <a:solidFill>
            <a:srgbClr val="12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1100" b="1">
                <a:solidFill>
                  <a:srgbClr val="ABB9D5"/>
                </a:solidFill>
                <a:latin typeface="Calibri"/>
              </a:defRPr>
            </a:pPr>
            <a:r>
              <a:t>PRODUCT DEVELOPMENT TO LIFT SOM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138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Calibri"/>
              </a:defRPr>
            </a:pPr>
            <a:r>
              <a:t>Priority Product Moves to Convert SAM Into SOM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783080"/>
            <a:ext cx="3749039" cy="4526280"/>
          </a:xfrm>
          <a:prstGeom prst="roundRect">
            <a:avLst/>
          </a:prstGeom>
          <a:solidFill>
            <a:srgbClr val="172135"/>
          </a:solidFill>
          <a:ln>
            <a:solidFill>
              <a:srgbClr val="3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Platform 1: Urban Core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Cleaner lager profile, upgraded pack design, stronger social occasion fit.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35424" y="1783080"/>
            <a:ext cx="3749039" cy="4526280"/>
          </a:xfrm>
          <a:prstGeom prst="roundRect">
            <a:avLst/>
          </a:prstGeom>
          <a:solidFill>
            <a:srgbClr val="172135"/>
          </a:solidFill>
          <a:ln>
            <a:solidFill>
              <a:srgbClr val="3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Platform 2: Premium Bridge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Limited/seasonal variants that cue craft-quality while staying accessible.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57616" y="1783080"/>
            <a:ext cx="3145536" cy="4526280"/>
          </a:xfrm>
          <a:prstGeom prst="roundRect">
            <a:avLst/>
          </a:prstGeom>
          <a:solidFill>
            <a:srgbClr val="172135"/>
          </a:solidFill>
          <a:ln>
            <a:solidFill>
              <a:srgbClr val="3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Platform 3: Channel Exclusives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Account-specific SKUs for modern trade, convenience, and on-trade.</a:t>
            </a:r>
          </a:p>
        </p:txBody>
      </p:sp>
      <p:pic>
        <p:nvPicPr>
          <p:cNvPr id="8" name="Picture 7" descr="carabao_l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063240"/>
            <a:ext cx="960120" cy="1298448"/>
          </a:xfrm>
          <a:prstGeom prst="rect">
            <a:avLst/>
          </a:prstGeom>
        </p:spPr>
      </p:pic>
      <p:pic>
        <p:nvPicPr>
          <p:cNvPr id="9" name="Picture 8" descr="leo_supr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3063240"/>
            <a:ext cx="960120" cy="1298448"/>
          </a:xfrm>
          <a:prstGeom prst="rect">
            <a:avLst/>
          </a:prstGeom>
        </p:spPr>
      </p:pic>
      <p:pic>
        <p:nvPicPr>
          <p:cNvPr id="10" name="Picture 9" descr="singha_rese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3063240"/>
            <a:ext cx="1463040" cy="12618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61772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ABB9D5"/>
                </a:solidFill>
                <a:latin typeface="Calibri"/>
              </a:defRPr>
            </a:pPr>
            <a:r>
              <a:t>Design rule: every SKU must carry both volume logic and identity logic.</a:t>
            </a:r>
          </a:p>
          <a:p>
            <a:pPr>
              <a:spcAft>
                <a:spcPts val="700"/>
              </a:spcAft>
              <a:defRPr sz="1300">
                <a:solidFill>
                  <a:srgbClr val="ABB9D5"/>
                </a:solidFill>
                <a:latin typeface="Calibri"/>
              </a:defRPr>
            </a:pPr>
            <a:r>
              <a:t>Commercial rule: sequence innovation by margin upside and outlet influence, not by internal preference.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02336"/>
          </a:xfrm>
          <a:prstGeom prst="rect">
            <a:avLst/>
          </a:prstGeom>
          <a:solidFill>
            <a:srgbClr val="12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1100" b="1">
                <a:solidFill>
                  <a:srgbClr val="ABB9D5"/>
                </a:solidFill>
                <a:latin typeface="Calibri"/>
              </a:defRPr>
            </a:pPr>
            <a:r>
              <a:t>ENGAGEMENT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138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Calibri"/>
              </a:defRPr>
            </a:pPr>
            <a:r>
              <a:t>Execution With Avi Yashaya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623560" cy="4206240"/>
          </a:xfrm>
          <a:prstGeom prst="roundRect">
            <a:avLst/>
          </a:prstGeom>
          <a:solidFill>
            <a:srgbClr val="172135"/>
          </a:solidFill>
          <a:ln>
            <a:solidFill>
              <a:srgbClr val="3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Scope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Brand architecture, product strategy, partner orchestration, and route-to-market execution cadence.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828800"/>
            <a:ext cx="4754880" cy="4206240"/>
          </a:xfrm>
          <a:prstGeom prst="roundRect">
            <a:avLst/>
          </a:prstGeom>
          <a:solidFill>
            <a:srgbClr val="222C42"/>
          </a:solidFill>
          <a:ln>
            <a:solidFill>
              <a:srgbClr val="30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F5F8FF"/>
                </a:solidFill>
                <a:latin typeface="Calibri"/>
              </a:defRPr>
            </a:pPr>
            <a:r>
              <a:t>KPIs</a:t>
            </a:r>
          </a:p>
          <a:p>
            <a:pPr>
              <a:defRPr sz="1100">
                <a:solidFill>
                  <a:srgbClr val="ABB9D5"/>
                </a:solidFill>
                <a:latin typeface="Calibri"/>
              </a:defRPr>
            </a:pPr>
            <a:r>
              <a:t>Perception lift, premium mix growth, repeat purchase, and share gains in priority urban channels.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8892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BB9D5"/>
                </a:solidFill>
                <a:latin typeface="Calibri"/>
              </a:defRPr>
            </a:pPr>
            <a:r>
              <a:t>1) Diagnostic sprint</a:t>
            </a:r>
          </a:p>
          <a:p>
            <a:pPr>
              <a:spcAft>
                <a:spcPts val="800"/>
              </a:spcAft>
              <a:defRPr sz="1500">
                <a:solidFill>
                  <a:srgbClr val="ABB9D5"/>
                </a:solidFill>
                <a:latin typeface="Calibri"/>
              </a:defRPr>
            </a:pPr>
            <a:r>
              <a:t>2) 90-day transformation blueprint</a:t>
            </a:r>
          </a:p>
          <a:p>
            <a:pPr>
              <a:spcAft>
                <a:spcPts val="800"/>
              </a:spcAft>
              <a:defRPr sz="1500">
                <a:solidFill>
                  <a:srgbClr val="ABB9D5"/>
                </a:solidFill>
                <a:latin typeface="Calibri"/>
              </a:defRPr>
            </a:pPr>
            <a:r>
              <a:t>3) Weekly implementation governance</a:t>
            </a:r>
          </a:p>
          <a:p>
            <a:pPr>
              <a:spcAft>
                <a:spcPts val="800"/>
              </a:spcAft>
              <a:defRPr sz="1500">
                <a:solidFill>
                  <a:srgbClr val="ABB9D5"/>
                </a:solidFill>
                <a:latin typeface="Calibri"/>
              </a:defRPr>
            </a:pPr>
            <a:r>
              <a:t>4) Quantified SAM-to-SOM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788920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8FF"/>
                </a:solidFill>
                <a:latin typeface="Calibri"/>
              </a:defRPr>
            </a:pPr>
            <a:r>
              <a:t>Outcome target: move from price-coded beer to modern Thai choice architecture.</a:t>
            </a:r>
          </a:p>
          <a:p>
            <a:pPr>
              <a:spcAft>
                <a:spcPts val="800"/>
              </a:spcAft>
              <a:defRPr sz="1500">
                <a:solidFill>
                  <a:srgbClr val="F5F8FF"/>
                </a:solidFill>
                <a:latin typeface="Calibri"/>
              </a:defRPr>
            </a:pPr>
            <a:r>
              <a:t>Contact: aviyashaya@gmail.com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02336"/>
          </a:xfrm>
          <a:prstGeom prst="rect">
            <a:avLst/>
          </a:prstGeom>
          <a:solidFill>
            <a:srgbClr val="12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1100" b="1">
                <a:solidFill>
                  <a:srgbClr val="ABB9D5"/>
                </a:solidFill>
                <a:latin typeface="Calibri"/>
              </a:defRPr>
            </a:pPr>
            <a:r>
              <a:t>VISUAL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8138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Calibri"/>
              </a:defRPr>
            </a:pPr>
            <a:r>
              <a:t>Web-Sourced Logos and Product References Included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Carabao logo: images.seeklogo.com</a:t>
            </a:r>
          </a:p>
          <a:p>
            <a:pPr>
              <a:spcAft>
                <a:spcPts val="10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Singha logo: Wikimedia Commons (File: Singha_Beer_Logo.png)</a:t>
            </a:r>
          </a:p>
          <a:p>
            <a:pPr>
              <a:spcAft>
                <a:spcPts val="10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Tawandang brand visual: tawandang.com</a:t>
            </a:r>
          </a:p>
          <a:p>
            <a:pPr>
              <a:spcAft>
                <a:spcPts val="10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Product references: Untappd pages for Carabao Lager, Chang Classic, Leo, Singha, Chao Sungthong, Mahanakhon White Ale, Leo Supreme, and Singha Reserve.</a:t>
            </a:r>
          </a:p>
          <a:p>
            <a:pPr>
              <a:spcAft>
                <a:spcPts val="1000"/>
              </a:spcAft>
              <a:defRPr sz="1400">
                <a:solidFill>
                  <a:srgbClr val="ABB9D5"/>
                </a:solidFill>
                <a:latin typeface="Calibri"/>
              </a:defRPr>
            </a:pPr>
            <a:r>
              <a:t>Supplemental bottle visual: Wikimedia Commons (File: Thailand-Leo-Beer.jpg).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