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Avi Yashaya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DFE6EF"/>
                </a:solidFill>
                <a:latin typeface="Calibri"/>
              </a:rPr>
              <a:t>Partner &amp; CEO, Mahanakhon Beverages Co., Ltd
NPD Consultant for Beverage Growth Across Southeast Asia
Built an operating platform behind products delivering $2M+ annual sell-through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F"/>
                </a:solidFill>
                <a:latin typeface="Calibri"/>
              </a:rPr>
              <a:t>aviyashaya@gmail.com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65836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hanakhon-brewery-logo-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68" y="722376"/>
            <a:ext cx="1828800" cy="786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Market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The Double-Edged Dilemma for Beverage Producers in Southeast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SMEs with ambitions of building Southeast Asia's next big beverage brand collide with industrial MOQs and harsh logistical, supply chain, and cash flow crises.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Institutional players struggle to keep up with fast consumer shifts because their data is often past its best-before date by the end of a slow development timeline.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Result: one side cannot scale efficiently, the other cannot adapt fast enough, and both lose speed, margin, and market relevance.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This is the exact operating gap I help clients close.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Actionable System I Implement (Built from 10+ Years in Market)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Step 1 - Partner stack: leverage the region's strongest strategic partners for R&amp;D, production, packaging, and route to market.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Step 2 - MOQ-aware build plan: sequence pilot-to-scale production in Thailand and Vietnam across Brewery, Distillery, and RTD to avoid cash burn.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Step 3 - Supply continuity by design: lock critical raw material flow, including hops from USA and New Zealand, with quality/spec alignment and dual-lane planning.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Step 4 - Commercial math: build channel-specific price architecture and margin logic before launch, not after discounting pressure starts.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Step 5 - Execution cadence: run launch governance that shortens development-to-shelf cycles and keeps decisions tied to live market signals.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035040"/>
            <a:ext cx="10789920" cy="27432"/>
          </a:xfrm>
          <a:prstGeom prst="rect">
            <a:avLst/>
          </a:prstGeom>
          <a:solidFill>
            <a:srgbClr val="C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447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64559"/>
                </a:solidFill>
                <a:latin typeface="Calibri"/>
              </a:rPr>
              <a:t>Let's leverage the region's best strategic partners and build systems that bring Asia's next big beverage to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Brand +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F"/>
                </a:solidFill>
                <a:latin typeface="Calibri"/>
              </a:rPr>
              <a:t>Mahanakhon Brand Identity + Product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869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64559"/>
                </a:solidFill>
                <a:latin typeface="Calibri"/>
              </a:rPr>
              <a:t>Integrates the sourced Mahanakhon logo and concept-ready product visual placements.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65836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hanakhon-brewery-logo-h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68" y="722376"/>
            <a:ext cx="1828800" cy="7863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1828800"/>
            <a:ext cx="370332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1" y="2011680"/>
            <a:ext cx="3374136" cy="3566160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Concept image placeholder</a:t>
            </a:r>
            <a:br/>
            <a:br/>
            <a:r>
              <a:t>Add one file:</a:t>
            </a:r>
            <a:br/>
            <a:r>
              <a:t>assets/concepts/phanya-laos-sour-mash-whiskey.jpg|jpeg|png|webp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5532120"/>
            <a:ext cx="3374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233F"/>
                </a:solidFill>
                <a:latin typeface="Calibri"/>
              </a:rPr>
              <a:t>PHANYA</a:t>
            </a:r>
          </a:p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Laos Sour Mash Whiskey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828800"/>
            <a:ext cx="370332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7" y="2011680"/>
            <a:ext cx="3374136" cy="3566160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Concept image placeholder</a:t>
            </a:r>
            <a:br/>
            <a:br/>
            <a:r>
              <a:t>Add one file:</a:t>
            </a:r>
            <a:br/>
            <a:r>
              <a:t>assets/concepts/two-palms-tropical-hazy-ipa.jpg|jpeg|png|webp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5532120"/>
            <a:ext cx="3374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233F"/>
                </a:solidFill>
                <a:latin typeface="Calibri"/>
              </a:rPr>
              <a:t>TWO PALMS HAZY</a:t>
            </a:r>
          </a:p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Tropical Hazy IPA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5552" y="1828800"/>
            <a:ext cx="370332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2011680"/>
            <a:ext cx="3374136" cy="3566160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Concept image placeholder</a:t>
            </a:r>
            <a:br/>
            <a:br/>
            <a:r>
              <a:t>Add one file:</a:t>
            </a:r>
            <a:br/>
            <a:r>
              <a:t>assets/concepts/shimapan-highball-club.jpg|jpeg|png|webp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144" y="5532120"/>
            <a:ext cx="3374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233F"/>
                </a:solidFill>
                <a:latin typeface="Calibri"/>
              </a:rPr>
              <a:t>SHIMAPAN</a:t>
            </a:r>
          </a:p>
          <a:p>
            <a:pPr algn="ctr">
              <a:defRPr sz="1200">
                <a:solidFill>
                  <a:srgbClr val="364559"/>
                </a:solidFill>
                <a:latin typeface="Calibri"/>
              </a:defRPr>
            </a:pPr>
            <a:r>
              <a:t>Highball Club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Global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Hyper-Specific Operating Model: Source Global, Produce Local, Sell Regional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Raw materials: hop procurement from the USA and New Zealand with quality/spec alignment and cost controls.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Production backbone: partner plants in Vietnam and Thailand across Brewery, Distillery, and RTD categories.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Packaging network: coordinated can, bottle, closure, and label suppliers to protect lead time and cash flow.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Regional flow: finished goods exported to convenience store channels in Taiwan and Japan.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Market expansion support: launch blueprints for clients opening new beverage markets in Laos.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035040"/>
            <a:ext cx="10789920" cy="27432"/>
          </a:xfrm>
          <a:prstGeom prst="rect">
            <a:avLst/>
          </a:prstGeom>
          <a:solidFill>
            <a:srgbClr val="C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447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64559"/>
                </a:solidFill>
                <a:latin typeface="Calibri"/>
              </a:rPr>
              <a:t>Result: diversified supply continuity with practical production optionality across countries and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Regional Commercialization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F"/>
                </a:solidFill>
                <a:latin typeface="Calibri"/>
              </a:rPr>
              <a:t>Route-to-Market and Pricing Strategy by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Thailand + Vietnam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Position portfolio by channel: modern trade, convenience, and on-trade activation.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Set margin architecture for producers, importers/distributors, and retailers.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Build launch calendars tied to local demand windows, events, and consumer behavior.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Run SKU-by-SKU pricing ladders to protect both velocity and gross margin.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Laos Market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Define import or local production model based on tax and duty realities.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Build first-wave assortment with clear opening price points and premium anchors.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Train distributor teams on product story, outlet pitch, and sell-in mechanics.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Stage rollout by city and outlet class to maximize conversion with controlled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F"/>
                </a:solidFill>
                <a:latin typeface="Calibri"/>
              </a:rPr>
              <a:t>A Working Network Built Over a Decade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Supply + Production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Hop and ingredient suppliers in the USA and New Zealand.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Manufacturing partners in Thailand and Vietnam covering beer, spirits, and RTD.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Packaging suppliers for cans, bottles, cartons, and labels with scalable capacity.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Quality and operational alignment across partners to speed launch readiness.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Commercial 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Distributors and route-to-market operators across Thailand, Laos, and Vietnam.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Retail and convenience channel relationships in Taiwan and Japan export routes.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On-trade account development through practical pricing and menu placement strategy.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Cross-functional partner management to maintain execution standards and timelines.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Category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Cross-Category Execution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Brewery: concept-to-commercialization support for craft and premium beer portfolios.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Distillery: liquid positioning, production planning, and go-to-market design for spirits.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RTD: speed-to-market product development and scalable production transition support.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Integrated portfolio strategy to prevent channel conflict and maximize total account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Commercial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Selected Outcomes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Built and operated systems behind Mahanakhon products now exceeding $2M annual retail + on-trade revenue.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Structured practical supply chain pathways linking global ingredient sourcing to regional production execution.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Developed export-ready operating flows for convenience store channels in Taiwan and Japan.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Supported market-opening strategy for Laos with channel-specific launch sequencing and price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035040"/>
            <a:ext cx="10789920" cy="27432"/>
          </a:xfrm>
          <a:prstGeom prst="rect">
            <a:avLst/>
          </a:prstGeom>
          <a:solidFill>
            <a:srgbClr val="C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447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64559"/>
                </a:solidFill>
                <a:latin typeface="Calibri"/>
              </a:rPr>
              <a:t>All outcomes based on direct operating involvement in sourcing, production, and commercialization.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Engagement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F"/>
                </a:solidFill>
                <a:latin typeface="Calibri"/>
              </a:rPr>
              <a:t>How I Work With Beverage Companies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737360"/>
            <a:ext cx="544068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D8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Advisory + Operating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30-90 day focused engagements for market entry, product launch, or supply chain redesign.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Workstreams: sourcing, plant partner selection, packaging readiness, pricing, and channel plan.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Weekly decision cadence with leadership team and execution owners.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Output: clear operating playbook with accountability and rollout checkpoints.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983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2233F"/>
                </a:solidFill>
                <a:latin typeface="Calibri"/>
              </a:rPr>
              <a:t>Fractional NPD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51460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Embedded support for teams that need senior NPD and commercialization leadership.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Cross-functional bridge between procurement, operations, marketing, and sales.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Focus on profitable scale, not just innovation theater.</a:t>
            </a:r>
          </a:p>
          <a:p>
            <a:pPr>
              <a:spcAft>
                <a:spcPts val="1000"/>
              </a:spcAft>
              <a:defRPr sz="1600">
                <a:solidFill>
                  <a:srgbClr val="364559"/>
                </a:solidFill>
                <a:latin typeface="Calibri"/>
              </a:defRPr>
            </a:pPr>
            <a:r>
              <a:t>Output: repeatable launch process that compounds over multiple product cycles.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Ideal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Best Fit Engagements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Global or regional beverage companies entering Southeast Asia.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Established players needing stronger execution in Thailand, Vietnam, or Laos.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Teams expanding across beer, spirits, and RTD categories with shared infrastructure.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Businesses seeking local operator credibility plus strategic clarity at executive level.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233F"/>
                </a:solidFill>
                <a:latin typeface="Calibri"/>
              </a:rPr>
              <a:t>Let’s Build the Next Profitable Beverage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364559"/>
                </a:solidFill>
                <a:latin typeface="Calibri"/>
              </a:defRPr>
            </a:pPr>
            <a:r>
              <a:t>Avi Yashaya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Partner &amp; CEO, Mahanakhon Beverages Co., Ltd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NPD Consultant</a:t>
            </a:r>
          </a:p>
          <a:p>
            <a:pPr>
              <a:spcAft>
                <a:spcPts val="1400"/>
              </a:spcAft>
              <a:defRPr sz="2000">
                <a:solidFill>
                  <a:srgbClr val="364559"/>
                </a:solidFill>
                <a:latin typeface="Calibri"/>
              </a:defRPr>
            </a:pPr>
            <a:r>
              <a:t>Email: aviyashaya@gmail.com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035040"/>
            <a:ext cx="10789920" cy="27432"/>
          </a:xfrm>
          <a:prstGeom prst="rect">
            <a:avLst/>
          </a:prstGeom>
          <a:solidFill>
            <a:srgbClr val="C7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447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64559"/>
                </a:solidFill>
                <a:latin typeface="Calibri"/>
              </a:rPr>
              <a:t>Let's leverage the region's best strategic partners for R&amp;D, production, and route to market to bring Asia's next big beverage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