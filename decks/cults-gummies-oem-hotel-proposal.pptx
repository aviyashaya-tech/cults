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ults-neon-gradient-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3716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A4A4AA"/>
                </a:solidFill>
                <a:latin typeface="Calibri"/>
              </a:defRPr>
            </a:pPr>
            <a:r>
              <a:t>@drinkcults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23960" y="137160"/>
            <a:ext cx="3017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4A4AA"/>
                </a:solidFill>
                <a:latin typeface="Calibri"/>
              </a:defRPr>
            </a:pPr>
            <a:r>
              <a:t>Business use  -  Highly confidential</a:t>
            </a:r>
          </a:p>
        </p:txBody>
      </p:sp>
      <p:pic>
        <p:nvPicPr>
          <p:cNvPr id="7" name="Picture 6" descr="cults-star-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731520"/>
            <a:ext cx="201168" cy="201168"/>
          </a:xfrm>
          <a:prstGeom prst="rect">
            <a:avLst/>
          </a:prstGeom>
        </p:spPr>
      </p:pic>
      <p:pic>
        <p:nvPicPr>
          <p:cNvPr id="8" name="Picture 7" descr="cults-star-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5720" y="841248"/>
            <a:ext cx="164592" cy="164592"/>
          </a:xfrm>
          <a:prstGeom prst="rect">
            <a:avLst/>
          </a:prstGeom>
        </p:spPr>
      </p:pic>
      <p:pic>
        <p:nvPicPr>
          <p:cNvPr id="9" name="Picture 8" descr="cults-star-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6263640"/>
            <a:ext cx="164592" cy="164592"/>
          </a:xfrm>
          <a:prstGeom prst="rect">
            <a:avLst/>
          </a:prstGeom>
        </p:spPr>
      </p:pic>
      <p:pic>
        <p:nvPicPr>
          <p:cNvPr id="10" name="Picture 9" descr="cults-logo-locku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1325880"/>
            <a:ext cx="5669280" cy="1828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520" y="315468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400">
                <a:solidFill>
                  <a:srgbClr val="A4A4AA"/>
                </a:solidFill>
                <a:latin typeface="Calibri"/>
              </a:defRPr>
            </a:pPr>
            <a:r>
              <a:t>Recovery Ritual  -  OEM partnership proposal for boutique and luxury hotels</a:t>
            </a:r>
          </a:p>
        </p:txBody>
      </p:sp>
      <p:pic>
        <p:nvPicPr>
          <p:cNvPr id="12" name="Picture 11" descr="cults-hero-pouc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0920" y="777240"/>
            <a:ext cx="4434840" cy="585216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749808" y="4023360"/>
            <a:ext cx="3840480" cy="502920"/>
          </a:xfrm>
          <a:prstGeom prst="rect">
            <a:avLst/>
          </a:prstGeom>
          <a:solidFill>
            <a:srgbClr val="08080C"/>
          </a:solidFill>
          <a:ln>
            <a:solidFill>
              <a:srgbClr val="F48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48434"/>
                </a:solidFill>
                <a:latin typeface="Calibri"/>
              </a:defRPr>
            </a:pPr>
            <a:r>
              <a:t>RECOVER LIKE YOU MEAN 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ults-neon-gradient-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3716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A4A4AA"/>
                </a:solidFill>
                <a:latin typeface="Calibri"/>
              </a:defRPr>
            </a:pPr>
            <a:r>
              <a:t>@drinkcults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23960" y="137160"/>
            <a:ext cx="3017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4A4AA"/>
                </a:solidFill>
                <a:latin typeface="Calibri"/>
              </a:defRPr>
            </a:pPr>
            <a:r>
              <a:t>Business use  -  Highly confidential</a:t>
            </a:r>
          </a:p>
        </p:txBody>
      </p:sp>
      <p:pic>
        <p:nvPicPr>
          <p:cNvPr id="7" name="Picture 6" descr="cults-star-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731520"/>
            <a:ext cx="201168" cy="201168"/>
          </a:xfrm>
          <a:prstGeom prst="rect">
            <a:avLst/>
          </a:prstGeom>
        </p:spPr>
      </p:pic>
      <p:pic>
        <p:nvPicPr>
          <p:cNvPr id="8" name="Picture 7" descr="cults-star-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5720" y="841248"/>
            <a:ext cx="164592" cy="164592"/>
          </a:xfrm>
          <a:prstGeom prst="rect">
            <a:avLst/>
          </a:prstGeom>
        </p:spPr>
      </p:pic>
      <p:pic>
        <p:nvPicPr>
          <p:cNvPr id="9" name="Picture 8" descr="cults-star-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6263640"/>
            <a:ext cx="164592" cy="16459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85800" y="658368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900" b="1">
                <a:solidFill>
                  <a:srgbClr val="F02D8C"/>
                </a:solidFill>
                <a:latin typeface="Calibri"/>
              </a:defRPr>
            </a:pPr>
            <a:r>
              <a:t>Introduction</a:t>
            </a:r>
          </a:p>
        </p:txBody>
      </p:sp>
      <p:pic>
        <p:nvPicPr>
          <p:cNvPr id="11" name="Picture 10" descr="cults-room-lifesty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4768" y="1572768"/>
            <a:ext cx="5212080" cy="452628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6144768" y="1572768"/>
            <a:ext cx="5212080" cy="4526280"/>
          </a:xfrm>
          <a:prstGeom prst="rect">
            <a:avLst/>
          </a:prstGeom>
          <a:solidFill>
            <a:srgbClr val="080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554480"/>
            <a:ext cx="5212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F5F5F5"/>
                </a:solidFill>
                <a:latin typeface="Calibri"/>
              </a:defRPr>
            </a:pPr>
            <a:r>
              <a:t>Brief business overview</a:t>
            </a:r>
          </a:p>
          <a:p>
            <a:pPr>
              <a:spcAft>
                <a:spcPts val="1000"/>
              </a:spcAft>
              <a:defRPr sz="1400">
                <a:solidFill>
                  <a:srgbClr val="F5F5F5"/>
                </a:solidFill>
                <a:latin typeface="Calibri"/>
              </a:defRPr>
            </a:pPr>
            <a:r>
              <a:t>Cults makes functional gummies for modern travelers who want recovery and deeper sleep without the clinical wellness aesthetic.</a:t>
            </a:r>
          </a:p>
          <a:p>
            <a:pPr>
              <a:spcAft>
                <a:spcPts val="1000"/>
              </a:spcAft>
              <a:defRPr sz="1400">
                <a:solidFill>
                  <a:srgbClr val="F5F5F5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400">
                <a:solidFill>
                  <a:srgbClr val="F5F5F5"/>
                </a:solidFill>
                <a:latin typeface="Calibri"/>
              </a:defRPr>
            </a:pPr>
            <a:r>
              <a:t>Vision statement</a:t>
            </a:r>
          </a:p>
          <a:p>
            <a:pPr>
              <a:spcAft>
                <a:spcPts val="1000"/>
              </a:spcAft>
              <a:defRPr sz="1400">
                <a:solidFill>
                  <a:srgbClr val="F5F5F5"/>
                </a:solidFill>
                <a:latin typeface="Calibri"/>
              </a:defRPr>
            </a:pPr>
            <a:r>
              <a:t>To become the in-room ritual guests trust the moment their trip starts to tax their body and sleep cycle.</a:t>
            </a:r>
          </a:p>
          <a:p>
            <a:pPr>
              <a:spcAft>
                <a:spcPts val="1000"/>
              </a:spcAft>
              <a:defRPr sz="1400">
                <a:solidFill>
                  <a:srgbClr val="F5F5F5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400">
                <a:solidFill>
                  <a:srgbClr val="F5F5F5"/>
                </a:solidFill>
                <a:latin typeface="Calibri"/>
              </a:defRPr>
            </a:pPr>
            <a:r>
              <a:t>Mission statement</a:t>
            </a:r>
          </a:p>
          <a:p>
            <a:pPr>
              <a:spcAft>
                <a:spcPts val="1000"/>
              </a:spcAft>
              <a:defRPr sz="1400">
                <a:solidFill>
                  <a:srgbClr val="F5F5F5"/>
                </a:solidFill>
                <a:latin typeface="Calibri"/>
              </a:defRPr>
            </a:pPr>
            <a:r>
              <a:t>Put one honest, effective pouch in every room that needs a fast, feel-good reset.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1645920"/>
            <a:ext cx="4892040" cy="4389120"/>
          </a:xfrm>
          <a:prstGeom prst="rect">
            <a:avLst/>
          </a:prstGeom>
          <a:solidFill>
            <a:srgbClr val="16161C"/>
          </a:solidFill>
          <a:ln>
            <a:solidFill>
              <a:srgbClr val="F02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29400" y="1828800"/>
            <a:ext cx="4434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02D8C"/>
                </a:solidFill>
                <a:latin typeface="Calibri"/>
              </a:defRPr>
            </a:pPr>
            <a:r>
              <a:t>What's in the pouch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2377440"/>
            <a:ext cx="44348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A4A4AA"/>
                </a:solidFill>
                <a:latin typeface="Calibri"/>
              </a:defRPr>
            </a:pPr>
            <a:r>
              <a:t>Deep Sleep blend:</a:t>
            </a:r>
          </a:p>
          <a:p>
            <a:pPr>
              <a:spcAft>
                <a:spcPts val="600"/>
              </a:spcAft>
              <a:defRPr sz="1300">
                <a:solidFill>
                  <a:srgbClr val="A4A4AA"/>
                </a:solidFill>
                <a:latin typeface="Calibri"/>
              </a:defRPr>
            </a:pPr>
            <a:r>
              <a:t>reishi + ashwagandha + magnesium + passionflower + l-theanine</a:t>
            </a:r>
          </a:p>
          <a:p>
            <a:pPr>
              <a:spcAft>
                <a:spcPts val="600"/>
              </a:spcAft>
              <a:defRPr sz="1300">
                <a:solidFill>
                  <a:srgbClr val="A4A4AA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A4A4AA"/>
                </a:solidFill>
                <a:latin typeface="Calibri"/>
              </a:defRPr>
            </a:pPr>
            <a:r>
              <a:t>Recovery blend:</a:t>
            </a:r>
          </a:p>
          <a:p>
            <a:pPr>
              <a:spcAft>
                <a:spcPts val="600"/>
              </a:spcAft>
              <a:defRPr sz="1300">
                <a:solidFill>
                  <a:srgbClr val="A4A4AA"/>
                </a:solidFill>
                <a:latin typeface="Calibri"/>
              </a:defRPr>
            </a:pPr>
            <a:r>
              <a:t>cordyceps + tart cherry + turmeric + mangosteen</a:t>
            </a:r>
          </a:p>
          <a:p>
            <a:pPr>
              <a:spcAft>
                <a:spcPts val="600"/>
              </a:spcAft>
              <a:defRPr sz="1300">
                <a:solidFill>
                  <a:srgbClr val="A4A4AA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A4A4AA"/>
                </a:solidFill>
                <a:latin typeface="Calibri"/>
              </a:defRPr>
            </a:pPr>
            <a:r>
              <a:t>No powders. No capsules. No fake pharma voice.</a:t>
            </a:r>
          </a:p>
          <a:p>
            <a:pPr>
              <a:spcAft>
                <a:spcPts val="600"/>
              </a:spcAft>
              <a:defRPr sz="1300">
                <a:solidFill>
                  <a:srgbClr val="A4A4AA"/>
                </a:solidFill>
                <a:latin typeface="Calibri"/>
              </a:defRPr>
            </a:pPr>
            <a:r>
              <a:t>Just one premium pouch guests can actually enjoy using.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ults-neon-gradient-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3716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A4A4AA"/>
                </a:solidFill>
                <a:latin typeface="Calibri"/>
              </a:defRPr>
            </a:pPr>
            <a:r>
              <a:t>@drinkcults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23960" y="137160"/>
            <a:ext cx="3017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4A4AA"/>
                </a:solidFill>
                <a:latin typeface="Calibri"/>
              </a:defRPr>
            </a:pPr>
            <a:r>
              <a:t>Business use  -  Highly confidential</a:t>
            </a:r>
          </a:p>
        </p:txBody>
      </p:sp>
      <p:pic>
        <p:nvPicPr>
          <p:cNvPr id="7" name="Picture 6" descr="cults-star-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731520"/>
            <a:ext cx="201168" cy="201168"/>
          </a:xfrm>
          <a:prstGeom prst="rect">
            <a:avLst/>
          </a:prstGeom>
        </p:spPr>
      </p:pic>
      <p:pic>
        <p:nvPicPr>
          <p:cNvPr id="8" name="Picture 7" descr="cults-star-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5720" y="841248"/>
            <a:ext cx="164592" cy="164592"/>
          </a:xfrm>
          <a:prstGeom prst="rect">
            <a:avLst/>
          </a:prstGeom>
        </p:spPr>
      </p:pic>
      <p:pic>
        <p:nvPicPr>
          <p:cNvPr id="9" name="Picture 8" descr="cults-star-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6263640"/>
            <a:ext cx="164592" cy="16459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85800" y="658368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900" b="1">
                <a:solidFill>
                  <a:srgbClr val="F02D8C"/>
                </a:solidFill>
                <a:latin typeface="Calibri"/>
              </a:defRPr>
            </a:pPr>
            <a:r>
              <a:t>Who we are</a:t>
            </a:r>
          </a:p>
        </p:txBody>
      </p:sp>
      <p:pic>
        <p:nvPicPr>
          <p:cNvPr id="11" name="Picture 10" descr="cults-secondary-pou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" y="2971800"/>
            <a:ext cx="2057400" cy="3429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22960" y="1554480"/>
            <a:ext cx="56692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F5F5F5"/>
                </a:solidFill>
                <a:latin typeface="Calibri"/>
              </a:defRPr>
            </a:pPr>
            <a:r>
              <a:t>Cults is a Thai functional gummy brand built for people who think wellness can be real, stylish, and simple.</a:t>
            </a:r>
          </a:p>
          <a:p>
            <a:pPr>
              <a:spcAft>
                <a:spcPts val="1000"/>
              </a:spcAft>
              <a:defRPr sz="1400">
                <a:solidFill>
                  <a:srgbClr val="F5F5F5"/>
                </a:solidFill>
                <a:latin typeface="Calibri"/>
              </a:defRPr>
            </a:pPr>
            <a:r>
              <a:t>For hotels, that becomes a guest-facing amenity that helps jet-lagged, over-worked, over-social guests sleep and recover faster.</a:t>
            </a:r>
          </a:p>
          <a:p>
            <a:pPr>
              <a:spcAft>
                <a:spcPts val="1000"/>
              </a:spcAft>
              <a:defRPr sz="1400">
                <a:solidFill>
                  <a:srgbClr val="F5F5F5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400">
                <a:solidFill>
                  <a:srgbClr val="F5F5F5"/>
                </a:solidFill>
                <a:latin typeface="Calibri"/>
              </a:defRPr>
            </a:pPr>
            <a:r>
              <a:t>Best-fit guest moments:</a:t>
            </a:r>
          </a:p>
          <a:p>
            <a:pPr>
              <a:spcAft>
                <a:spcPts val="1000"/>
              </a:spcAft>
              <a:defRPr sz="1400">
                <a:solidFill>
                  <a:srgbClr val="F5F5F5"/>
                </a:solidFill>
                <a:latin typeface="Calibri"/>
              </a:defRPr>
            </a:pPr>
            <a:r>
              <a:t>- First night, post-flight</a:t>
            </a:r>
          </a:p>
          <a:p>
            <a:pPr>
              <a:spcAft>
                <a:spcPts val="1000"/>
              </a:spcAft>
              <a:defRPr sz="1400">
                <a:solidFill>
                  <a:srgbClr val="F5F5F5"/>
                </a:solidFill>
                <a:latin typeface="Calibri"/>
              </a:defRPr>
            </a:pPr>
            <a:r>
              <a:t>- Post-gym or spa recovery</a:t>
            </a:r>
          </a:p>
          <a:p>
            <a:pPr>
              <a:spcAft>
                <a:spcPts val="1000"/>
              </a:spcAft>
              <a:defRPr sz="1400">
                <a:solidFill>
                  <a:srgbClr val="F5F5F5"/>
                </a:solidFill>
                <a:latin typeface="Calibri"/>
              </a:defRPr>
            </a:pPr>
            <a:r>
              <a:t>- Wind-down after late dinner</a:t>
            </a:r>
          </a:p>
          <a:p>
            <a:pPr>
              <a:spcAft>
                <a:spcPts val="1000"/>
              </a:spcAft>
              <a:defRPr sz="1400">
                <a:solidFill>
                  <a:srgbClr val="F5F5F5"/>
                </a:solidFill>
                <a:latin typeface="Calibri"/>
              </a:defRPr>
            </a:pPr>
            <a:r>
              <a:t>- Early call-time, next-day reset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80760" y="1783080"/>
            <a:ext cx="2743200" cy="1874519"/>
          </a:xfrm>
          <a:prstGeom prst="rect">
            <a:avLst/>
          </a:prstGeom>
          <a:solidFill>
            <a:srgbClr val="16161C"/>
          </a:solidFill>
          <a:ln>
            <a:solidFill>
              <a:srgbClr val="F02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96596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02D8C"/>
                </a:solidFill>
                <a:latin typeface="Calibri"/>
              </a:defRPr>
            </a:pPr>
            <a:r>
              <a:t>Boutique city hotel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514600"/>
            <a:ext cx="2286000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A4A4AA"/>
                </a:solidFill>
                <a:latin typeface="Calibri"/>
              </a:defRPr>
            </a:pPr>
            <a:r>
              <a:t>Amenity drawer, turn-down tray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42832" y="1783080"/>
            <a:ext cx="2331720" cy="1874519"/>
          </a:xfrm>
          <a:prstGeom prst="rect">
            <a:avLst/>
          </a:prstGeom>
          <a:solidFill>
            <a:srgbClr val="16161C"/>
          </a:solidFill>
          <a:ln>
            <a:solidFill>
              <a:srgbClr val="F48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71432" y="1965960"/>
            <a:ext cx="187451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48434"/>
                </a:solidFill>
                <a:latin typeface="Calibri"/>
              </a:defRPr>
            </a:pPr>
            <a:r>
              <a:t>Wellness resort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71432" y="2514600"/>
            <a:ext cx="1874519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A4A4AA"/>
                </a:solidFill>
                <a:latin typeface="Calibri"/>
              </a:defRPr>
            </a:pPr>
            <a:r>
              <a:t>Spa gift shop, retreat welcome kit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80760" y="3840480"/>
            <a:ext cx="2743200" cy="1874519"/>
          </a:xfrm>
          <a:prstGeom prst="rect">
            <a:avLst/>
          </a:prstGeom>
          <a:solidFill>
            <a:srgbClr val="16161C"/>
          </a:solidFill>
          <a:ln>
            <a:solidFill>
              <a:srgbClr val="BADB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402336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BADB44"/>
                </a:solidFill>
                <a:latin typeface="Calibri"/>
              </a:defRPr>
            </a:pPr>
            <a:r>
              <a:t>Business hotel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4572000"/>
            <a:ext cx="2286000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A4A4AA"/>
                </a:solidFill>
                <a:latin typeface="Calibri"/>
              </a:defRPr>
            </a:pPr>
            <a:r>
              <a:t>Executive floor minibar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42832" y="3840480"/>
            <a:ext cx="2331720" cy="1874519"/>
          </a:xfrm>
          <a:prstGeom prst="rect">
            <a:avLst/>
          </a:prstGeom>
          <a:solidFill>
            <a:srgbClr val="16161C"/>
          </a:solidFill>
          <a:ln>
            <a:solidFill>
              <a:srgbClr val="A55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71432" y="4023360"/>
            <a:ext cx="187451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A55DFF"/>
                </a:solidFill>
                <a:latin typeface="Calibri"/>
              </a:defRPr>
            </a:pPr>
            <a:r>
              <a:t>Private villa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71432" y="4572000"/>
            <a:ext cx="1874519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A4A4AA"/>
                </a:solidFill>
                <a:latin typeface="Calibri"/>
              </a:defRPr>
            </a:pPr>
            <a:r>
              <a:t>Welcome hamper, concierge upsell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ults-neon-gradient-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3716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A4A4AA"/>
                </a:solidFill>
                <a:latin typeface="Calibri"/>
              </a:defRPr>
            </a:pPr>
            <a:r>
              <a:t>@drinkcults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23960" y="137160"/>
            <a:ext cx="3017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4A4AA"/>
                </a:solidFill>
                <a:latin typeface="Calibri"/>
              </a:defRPr>
            </a:pPr>
            <a:r>
              <a:t>Business use  -  Highly confidential</a:t>
            </a:r>
          </a:p>
        </p:txBody>
      </p:sp>
      <p:pic>
        <p:nvPicPr>
          <p:cNvPr id="7" name="Picture 6" descr="cults-star-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731520"/>
            <a:ext cx="201168" cy="201168"/>
          </a:xfrm>
          <a:prstGeom prst="rect">
            <a:avLst/>
          </a:prstGeom>
        </p:spPr>
      </p:pic>
      <p:pic>
        <p:nvPicPr>
          <p:cNvPr id="8" name="Picture 7" descr="cults-star-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5720" y="841248"/>
            <a:ext cx="164592" cy="164592"/>
          </a:xfrm>
          <a:prstGeom prst="rect">
            <a:avLst/>
          </a:prstGeom>
        </p:spPr>
      </p:pic>
      <p:pic>
        <p:nvPicPr>
          <p:cNvPr id="9" name="Picture 8" descr="cults-star-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6263640"/>
            <a:ext cx="164592" cy="16459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85800" y="658368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900" b="1">
                <a:solidFill>
                  <a:srgbClr val="F02D8C"/>
                </a:solidFill>
                <a:latin typeface="Calibri"/>
              </a:defRPr>
            </a:pPr>
            <a:r>
              <a:t>Market opportunity</a:t>
            </a:r>
          </a:p>
        </p:txBody>
      </p:sp>
      <p:pic>
        <p:nvPicPr>
          <p:cNvPr id="11" name="Picture 10" descr="cults-hero-pou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12680" y="1389888"/>
            <a:ext cx="1783080" cy="28803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22960" y="1554480"/>
            <a:ext cx="5669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F5F5F5"/>
                </a:solidFill>
                <a:latin typeface="Calibri"/>
              </a:defRPr>
            </a:pPr>
            <a:r>
              <a:t>Sleep tourism is now a leading driver of premium-stay booking behavior.</a:t>
            </a:r>
          </a:p>
          <a:p>
            <a:pPr>
              <a:spcAft>
                <a:spcPts val="1000"/>
              </a:spcAft>
              <a:defRPr sz="1400">
                <a:solidFill>
                  <a:srgbClr val="F5F5F5"/>
                </a:solidFill>
                <a:latin typeface="Calibri"/>
              </a:defRPr>
            </a:pPr>
            <a:r>
              <a:t>Hotels are actively searching for low-friction in-room wellness amenities.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2834640"/>
            <a:ext cx="5577840" cy="2743200"/>
          </a:xfrm>
          <a:prstGeom prst="rect">
            <a:avLst/>
          </a:prstGeom>
          <a:solidFill>
            <a:srgbClr val="16161C"/>
          </a:solidFill>
          <a:ln>
            <a:solidFill>
              <a:srgbClr val="F48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301752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48434"/>
                </a:solidFill>
                <a:latin typeface="Calibri"/>
              </a:defRPr>
            </a:pPr>
            <a:r>
              <a:t>Why Cults fits now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56616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A4A4AA"/>
                </a:solidFill>
                <a:latin typeface="Calibri"/>
              </a:defRPr>
            </a:pPr>
            <a:r>
              <a:t>The shelf is crowded with generic minibar items.</a:t>
            </a:r>
          </a:p>
          <a:p>
            <a:pPr>
              <a:spcAft>
                <a:spcPts val="600"/>
              </a:spcAft>
              <a:defRPr sz="1300">
                <a:solidFill>
                  <a:srgbClr val="A4A4AA"/>
                </a:solidFill>
                <a:latin typeface="Calibri"/>
              </a:defRPr>
            </a:pPr>
            <a:r>
              <a:t>Cults gives properties a premium, photogenic recovery touchpoint.</a:t>
            </a:r>
          </a:p>
          <a:p>
            <a:pPr>
              <a:spcAft>
                <a:spcPts val="600"/>
              </a:spcAft>
              <a:defRPr sz="1300">
                <a:solidFill>
                  <a:srgbClr val="A4A4AA"/>
                </a:solidFill>
                <a:latin typeface="Calibri"/>
              </a:defRPr>
            </a:pPr>
            <a:r>
              <a:t>Crafted in Thailand with real ingredients and modern design language.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0840" y="173736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200">
                <a:solidFill>
                  <a:srgbClr val="BADB44"/>
                </a:solidFill>
                <a:latin typeface="Calibri"/>
              </a:defRPr>
            </a:pPr>
            <a:r>
              <a:t>$369B</a:t>
            </a:r>
          </a:p>
          <a:p>
            <a:pPr>
              <a:spcAft>
                <a:spcPts val="200"/>
              </a:spcAft>
              <a:defRPr sz="2200">
                <a:solidFill>
                  <a:srgbClr val="BADB44"/>
                </a:solidFill>
                <a:latin typeface="Calibri"/>
              </a:defRPr>
            </a:pPr>
            <a:r>
              <a:t>global luxury hotel market by 2032</a:t>
            </a:r>
          </a:p>
          <a:p>
            <a:pPr>
              <a:spcAft>
                <a:spcPts val="200"/>
              </a:spcAft>
              <a:defRPr sz="2200">
                <a:solidFill>
                  <a:srgbClr val="BADB44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2200">
                <a:solidFill>
                  <a:srgbClr val="BADB44"/>
                </a:solidFill>
                <a:latin typeface="Calibri"/>
              </a:defRPr>
            </a:pPr>
            <a:r>
              <a:t>9%</a:t>
            </a:r>
          </a:p>
          <a:p>
            <a:pPr>
              <a:spcAft>
                <a:spcPts val="200"/>
              </a:spcAft>
              <a:defRPr sz="2200">
                <a:solidFill>
                  <a:srgbClr val="BADB44"/>
                </a:solidFill>
                <a:latin typeface="Calibri"/>
              </a:defRPr>
            </a:pPr>
            <a:r>
              <a:t>growth in functional wellness beverage/ritual demand</a:t>
            </a:r>
          </a:p>
          <a:p>
            <a:pPr>
              <a:spcAft>
                <a:spcPts val="200"/>
              </a:spcAft>
              <a:defRPr sz="2200">
                <a:solidFill>
                  <a:srgbClr val="BADB44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2200">
                <a:solidFill>
                  <a:srgbClr val="BADB44"/>
                </a:solidFill>
                <a:latin typeface="Calibri"/>
              </a:defRPr>
            </a:pPr>
            <a:r>
              <a:t>23%</a:t>
            </a:r>
          </a:p>
          <a:p>
            <a:pPr>
              <a:spcAft>
                <a:spcPts val="200"/>
              </a:spcAft>
              <a:defRPr sz="2200">
                <a:solidFill>
                  <a:srgbClr val="BADB44"/>
                </a:solidFill>
                <a:latin typeface="Calibri"/>
              </a:defRPr>
            </a:pPr>
            <a:r>
              <a:t>of guests say personalized stay amenities increase satisfaction</a:t>
            </a:r>
          </a:p>
          <a:p>
            <a:pPr>
              <a:spcAft>
                <a:spcPts val="200"/>
              </a:spcAft>
              <a:defRPr sz="2200">
                <a:solidFill>
                  <a:srgbClr val="BADB44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2200">
                <a:solidFill>
                  <a:srgbClr val="BADB44"/>
                </a:solidFill>
                <a:latin typeface="Calibri"/>
              </a:defRPr>
            </a:pPr>
            <a:r>
              <a:t>Cults gives hotels one SKU that is easy to deploy and easy to talk about.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ults-neon-gradient-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3716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A4A4AA"/>
                </a:solidFill>
                <a:latin typeface="Calibri"/>
              </a:defRPr>
            </a:pPr>
            <a:r>
              <a:t>@drinkcults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23960" y="137160"/>
            <a:ext cx="3017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4A4AA"/>
                </a:solidFill>
                <a:latin typeface="Calibri"/>
              </a:defRPr>
            </a:pPr>
            <a:r>
              <a:t>Business use  -  Highly confidential</a:t>
            </a:r>
          </a:p>
        </p:txBody>
      </p:sp>
      <p:pic>
        <p:nvPicPr>
          <p:cNvPr id="7" name="Picture 6" descr="cults-star-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731520"/>
            <a:ext cx="201168" cy="201168"/>
          </a:xfrm>
          <a:prstGeom prst="rect">
            <a:avLst/>
          </a:prstGeom>
        </p:spPr>
      </p:pic>
      <p:pic>
        <p:nvPicPr>
          <p:cNvPr id="8" name="Picture 7" descr="cults-star-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5720" y="841248"/>
            <a:ext cx="164592" cy="164592"/>
          </a:xfrm>
          <a:prstGeom prst="rect">
            <a:avLst/>
          </a:prstGeom>
        </p:spPr>
      </p:pic>
      <p:pic>
        <p:nvPicPr>
          <p:cNvPr id="9" name="Picture 8" descr="cults-star-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6263640"/>
            <a:ext cx="164592" cy="16459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85800" y="658368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900" b="1">
                <a:solidFill>
                  <a:srgbClr val="F02D8C"/>
                </a:solidFill>
                <a:latin typeface="Calibri"/>
              </a:defRPr>
            </a:pPr>
            <a:r>
              <a:t>Target hotel partners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" y="1508760"/>
            <a:ext cx="10881360" cy="36576"/>
          </a:xfrm>
          <a:prstGeom prst="rect">
            <a:avLst/>
          </a:prstGeom>
          <a:solidFill>
            <a:srgbClr val="BAD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1737360"/>
            <a:ext cx="5394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F5F5F5"/>
                </a:solidFill>
                <a:latin typeface="Calibri"/>
              </a:defRPr>
            </a:pPr>
            <a:r>
              <a:t>Primary</a:t>
            </a:r>
          </a:p>
          <a:p>
            <a:pPr>
              <a:spcAft>
                <a:spcPts val="1000"/>
              </a:spcAft>
              <a:defRPr sz="1400">
                <a:solidFill>
                  <a:srgbClr val="F5F5F5"/>
                </a:solidFill>
                <a:latin typeface="Calibri"/>
              </a:defRPr>
            </a:pPr>
            <a:r>
              <a:t>Boutique and lifestyle hotels in Bangkok, Phuket, Chiang Mai, Koh Samui</a:t>
            </a:r>
          </a:p>
          <a:p>
            <a:pPr>
              <a:spcAft>
                <a:spcPts val="1000"/>
              </a:spcAft>
              <a:defRPr sz="1400">
                <a:solidFill>
                  <a:srgbClr val="F5F5F5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400">
                <a:solidFill>
                  <a:srgbClr val="F5F5F5"/>
                </a:solidFill>
                <a:latin typeface="Calibri"/>
              </a:defRPr>
            </a:pPr>
            <a:r>
              <a:t>Wellness resorts and spa retreats</a:t>
            </a:r>
          </a:p>
          <a:p>
            <a:pPr>
              <a:spcAft>
                <a:spcPts val="1000"/>
              </a:spcAft>
              <a:defRPr sz="1400">
                <a:solidFill>
                  <a:srgbClr val="F5F5F5"/>
                </a:solidFill>
                <a:latin typeface="Calibri"/>
              </a:defRPr>
            </a:pPr>
            <a:r>
              <a:t>Properties already investing in sleep and recovery programming</a:t>
            </a:r>
          </a:p>
          <a:p>
            <a:pPr>
              <a:spcAft>
                <a:spcPts val="1000"/>
              </a:spcAft>
              <a:defRPr sz="1400">
                <a:solidFill>
                  <a:srgbClr val="F5F5F5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400">
                <a:solidFill>
                  <a:srgbClr val="F5F5F5"/>
                </a:solidFill>
                <a:latin typeface="Calibri"/>
              </a:defRPr>
            </a:pPr>
            <a:r>
              <a:t>Independent luxury properties</a:t>
            </a:r>
          </a:p>
          <a:p>
            <a:pPr>
              <a:spcAft>
                <a:spcPts val="1000"/>
              </a:spcAft>
              <a:defRPr sz="1400">
                <a:solidFill>
                  <a:srgbClr val="F5F5F5"/>
                </a:solidFill>
                <a:latin typeface="Calibri"/>
              </a:defRPr>
            </a:pPr>
            <a:r>
              <a:t>Fast decision-making, no heavy procurement layers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73736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F5F5F5"/>
                </a:solidFill>
                <a:latin typeface="Calibri"/>
              </a:defRPr>
            </a:pPr>
            <a:r>
              <a:t>Secondary</a:t>
            </a:r>
          </a:p>
          <a:p>
            <a:pPr>
              <a:spcAft>
                <a:spcPts val="1000"/>
              </a:spcAft>
              <a:defRPr sz="1400">
                <a:solidFill>
                  <a:srgbClr val="F5F5F5"/>
                </a:solidFill>
                <a:latin typeface="Calibri"/>
              </a:defRPr>
            </a:pPr>
            <a:r>
              <a:t>International chain wellness floors and executive tiers</a:t>
            </a:r>
          </a:p>
          <a:p>
            <a:pPr>
              <a:spcAft>
                <a:spcPts val="1000"/>
              </a:spcAft>
              <a:defRPr sz="1400">
                <a:solidFill>
                  <a:srgbClr val="F5F5F5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400">
                <a:solidFill>
                  <a:srgbClr val="F5F5F5"/>
                </a:solidFill>
                <a:latin typeface="Calibri"/>
              </a:defRPr>
            </a:pPr>
            <a:r>
              <a:t>Private villa and estate management</a:t>
            </a:r>
          </a:p>
          <a:p>
            <a:pPr>
              <a:spcAft>
                <a:spcPts val="1000"/>
              </a:spcAft>
              <a:defRPr sz="1400">
                <a:solidFill>
                  <a:srgbClr val="F5F5F5"/>
                </a:solidFill>
                <a:latin typeface="Calibri"/>
              </a:defRPr>
            </a:pPr>
            <a:r>
              <a:t>Welcome hampers, concierge bundles, in-villa recovery packs</a:t>
            </a:r>
          </a:p>
          <a:p>
            <a:pPr>
              <a:spcAft>
                <a:spcPts val="1000"/>
              </a:spcAft>
              <a:defRPr sz="1400">
                <a:solidFill>
                  <a:srgbClr val="F5F5F5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400">
                <a:solidFill>
                  <a:srgbClr val="F5F5F5"/>
                </a:solidFill>
                <a:latin typeface="Calibri"/>
              </a:defRPr>
            </a:pPr>
            <a:r>
              <a:t>Corporate wellness retreats and off-sites</a:t>
            </a:r>
          </a:p>
          <a:p>
            <a:pPr>
              <a:spcAft>
                <a:spcPts val="1000"/>
              </a:spcAft>
              <a:defRPr sz="1400">
                <a:solidFill>
                  <a:srgbClr val="F5F5F5"/>
                </a:solidFill>
                <a:latin typeface="Calibri"/>
              </a:defRPr>
            </a:pPr>
            <a:r>
              <a:t>Bulk gifting and premium room-drop moments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" y="5349240"/>
            <a:ext cx="10927080" cy="1005840"/>
          </a:xfrm>
          <a:prstGeom prst="rect">
            <a:avLst/>
          </a:prstGeom>
          <a:solidFill>
            <a:srgbClr val="16161C"/>
          </a:solidFill>
          <a:ln>
            <a:solidFill>
              <a:srgbClr val="F02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5532120"/>
            <a:ext cx="10469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02D8C"/>
                </a:solidFill>
                <a:latin typeface="Calibri"/>
              </a:defRPr>
            </a:pPr>
            <a:r>
              <a:t>The guest they're serving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6080759"/>
            <a:ext cx="1046988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A4A4AA"/>
                </a:solidFill>
                <a:latin typeface="Calibri"/>
              </a:defRPr>
            </a:pPr>
            <a:r>
              <a:t>Long-haul arrivals fighting jet lag, wellness-forward travelers, busy executives, and social travelers who want a premium reset without effort.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ults-neon-gradient-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3716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A4A4AA"/>
                </a:solidFill>
                <a:latin typeface="Calibri"/>
              </a:defRPr>
            </a:pPr>
            <a:r>
              <a:t>@drinkcults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23960" y="137160"/>
            <a:ext cx="3017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4A4AA"/>
                </a:solidFill>
                <a:latin typeface="Calibri"/>
              </a:defRPr>
            </a:pPr>
            <a:r>
              <a:t>Business use  -  Highly confidential</a:t>
            </a:r>
          </a:p>
        </p:txBody>
      </p:sp>
      <p:pic>
        <p:nvPicPr>
          <p:cNvPr id="7" name="Picture 6" descr="cults-star-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731520"/>
            <a:ext cx="201168" cy="201168"/>
          </a:xfrm>
          <a:prstGeom prst="rect">
            <a:avLst/>
          </a:prstGeom>
        </p:spPr>
      </p:pic>
      <p:pic>
        <p:nvPicPr>
          <p:cNvPr id="8" name="Picture 7" descr="cults-star-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5720" y="841248"/>
            <a:ext cx="164592" cy="164592"/>
          </a:xfrm>
          <a:prstGeom prst="rect">
            <a:avLst/>
          </a:prstGeom>
        </p:spPr>
      </p:pic>
      <p:pic>
        <p:nvPicPr>
          <p:cNvPr id="9" name="Picture 8" descr="cults-star-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6263640"/>
            <a:ext cx="164592" cy="16459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85800" y="658368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900" b="1">
                <a:solidFill>
                  <a:srgbClr val="F02D8C"/>
                </a:solidFill>
                <a:latin typeface="Calibri"/>
              </a:defRPr>
            </a:pPr>
            <a:r>
              <a:t>Our value to the market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490472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5F5F5"/>
                </a:solidFill>
                <a:latin typeface="Calibri"/>
              </a:defRPr>
            </a:pPr>
            <a:r>
              <a:t>The first true in-room recovery amenity in Thailand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1965960"/>
            <a:ext cx="2926080" cy="2926080"/>
          </a:xfrm>
          <a:prstGeom prst="ellipse">
            <a:avLst/>
          </a:prstGeom>
          <a:solidFill>
            <a:srgbClr val="16161C"/>
          </a:solidFill>
          <a:ln w="27940">
            <a:solidFill>
              <a:srgbClr val="F02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292608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600">
                <a:solidFill>
                  <a:srgbClr val="F5F5F5"/>
                </a:solidFill>
                <a:latin typeface="Calibri"/>
              </a:defRPr>
            </a:pPr>
            <a:r>
              <a:t>Low-cost, high-value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70432" y="3657600"/>
            <a:ext cx="2423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A4A4AA"/>
                </a:solidFill>
                <a:latin typeface="Calibri"/>
              </a:defRPr>
            </a:pPr>
            <a:r>
              <a:t>One pouch, priced like a thoughtful add-on, felt like a premium ritual.</a:t>
            </a:r>
          </a:p>
        </p:txBody>
      </p:sp>
      <p:sp>
        <p:nvSpPr>
          <p:cNvPr id="15" name="Oval 14"/>
          <p:cNvSpPr/>
          <p:nvPr/>
        </p:nvSpPr>
        <p:spPr>
          <a:xfrm>
            <a:off x="4069080" y="1965960"/>
            <a:ext cx="2926080" cy="2926080"/>
          </a:xfrm>
          <a:prstGeom prst="ellipse">
            <a:avLst/>
          </a:prstGeom>
          <a:solidFill>
            <a:srgbClr val="16161C"/>
          </a:solidFill>
          <a:ln w="27940">
            <a:solidFill>
              <a:srgbClr val="BADB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43400" y="292608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600">
                <a:solidFill>
                  <a:srgbClr val="F5F5F5"/>
                </a:solidFill>
                <a:latin typeface="Calibri"/>
              </a:defRPr>
            </a:pPr>
            <a:r>
              <a:t>Effortless ritual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25112" y="3657600"/>
            <a:ext cx="2423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A4A4AA"/>
                </a:solidFill>
                <a:latin typeface="Calibri"/>
              </a:defRPr>
            </a:pPr>
            <a:r>
              <a:t>No blending. No prep. Tear, eat, and wind down before lights out.</a:t>
            </a:r>
          </a:p>
        </p:txBody>
      </p:sp>
      <p:sp>
        <p:nvSpPr>
          <p:cNvPr id="18" name="Oval 17"/>
          <p:cNvSpPr/>
          <p:nvPr/>
        </p:nvSpPr>
        <p:spPr>
          <a:xfrm>
            <a:off x="7223760" y="1965960"/>
            <a:ext cx="2926080" cy="2926080"/>
          </a:xfrm>
          <a:prstGeom prst="ellipse">
            <a:avLst/>
          </a:prstGeom>
          <a:solidFill>
            <a:srgbClr val="16161C"/>
          </a:solidFill>
          <a:ln w="27940">
            <a:solidFill>
              <a:srgbClr val="F48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0" y="292608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600">
                <a:solidFill>
                  <a:srgbClr val="F5F5F5"/>
                </a:solidFill>
                <a:latin typeface="Calibri"/>
              </a:defRPr>
            </a:pPr>
            <a:r>
              <a:t>Real ingredients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79792" y="3657600"/>
            <a:ext cx="2423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A4A4AA"/>
                </a:solidFill>
                <a:latin typeface="Calibri"/>
              </a:defRPr>
            </a:pPr>
            <a:r>
              <a:t>Botanicals, mushrooms, tart cherry, magnesium, and tropical fruit.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ults-neon-gradient-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3716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A4A4AA"/>
                </a:solidFill>
                <a:latin typeface="Calibri"/>
              </a:defRPr>
            </a:pPr>
            <a:r>
              <a:t>@drinkcults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23960" y="137160"/>
            <a:ext cx="3017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4A4AA"/>
                </a:solidFill>
                <a:latin typeface="Calibri"/>
              </a:defRPr>
            </a:pPr>
            <a:r>
              <a:t>Business use  -  Highly confidential</a:t>
            </a:r>
          </a:p>
        </p:txBody>
      </p:sp>
      <p:pic>
        <p:nvPicPr>
          <p:cNvPr id="7" name="Picture 6" descr="cults-star-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731520"/>
            <a:ext cx="201168" cy="201168"/>
          </a:xfrm>
          <a:prstGeom prst="rect">
            <a:avLst/>
          </a:prstGeom>
        </p:spPr>
      </p:pic>
      <p:pic>
        <p:nvPicPr>
          <p:cNvPr id="8" name="Picture 7" descr="cults-star-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5720" y="841248"/>
            <a:ext cx="164592" cy="164592"/>
          </a:xfrm>
          <a:prstGeom prst="rect">
            <a:avLst/>
          </a:prstGeom>
        </p:spPr>
      </p:pic>
      <p:pic>
        <p:nvPicPr>
          <p:cNvPr id="9" name="Picture 8" descr="cults-star-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6263640"/>
            <a:ext cx="164592" cy="16459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85800" y="658368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900" b="1">
                <a:solidFill>
                  <a:srgbClr val="F02D8C"/>
                </a:solidFill>
                <a:latin typeface="Calibri"/>
              </a:defRPr>
            </a:pPr>
            <a:r>
              <a:t>Our value to you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" y="1600200"/>
            <a:ext cx="2926080" cy="2103120"/>
          </a:xfrm>
          <a:prstGeom prst="rect">
            <a:avLst/>
          </a:prstGeom>
          <a:solidFill>
            <a:srgbClr val="16161C"/>
          </a:solidFill>
          <a:ln>
            <a:solidFill>
              <a:srgbClr val="F48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1783080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48434"/>
                </a:solidFill>
                <a:latin typeface="Calibri"/>
              </a:defRPr>
            </a:pPr>
            <a:r>
              <a:t>1. Guest experience upgrade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331720"/>
            <a:ext cx="2468880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A4A4AA"/>
                </a:solidFill>
                <a:latin typeface="Calibri"/>
              </a:defRPr>
            </a:pPr>
            <a:r>
              <a:t>A recovery ritual that photographs beautifully and genuinely helps guests reset.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50791" y="1600200"/>
            <a:ext cx="2926080" cy="2103120"/>
          </a:xfrm>
          <a:prstGeom prst="rect">
            <a:avLst/>
          </a:prstGeom>
          <a:solidFill>
            <a:srgbClr val="16161C"/>
          </a:solidFill>
          <a:ln>
            <a:solidFill>
              <a:srgbClr val="BADB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79392" y="1783080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BADB44"/>
                </a:solidFill>
                <a:latin typeface="Calibri"/>
              </a:defRPr>
            </a:pPr>
            <a:r>
              <a:t>2. Low cost, high perceived value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79392" y="2331720"/>
            <a:ext cx="2468880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A4A4AA"/>
                </a:solidFill>
                <a:latin typeface="Calibri"/>
              </a:defRPr>
            </a:pPr>
            <a:r>
              <a:t>Priced like a premium turn-down treat, felt like a top-tier amenity.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32904" y="1600200"/>
            <a:ext cx="2926080" cy="2103120"/>
          </a:xfrm>
          <a:prstGeom prst="rect">
            <a:avLst/>
          </a:prstGeom>
          <a:solidFill>
            <a:srgbClr val="16161C"/>
          </a:solidFill>
          <a:ln>
            <a:solidFill>
              <a:srgbClr val="F02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61504" y="1783080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02D8C"/>
                </a:solidFill>
                <a:latin typeface="Calibri"/>
              </a:defRPr>
            </a:pPr>
            <a:r>
              <a:t>3. A story your team can tell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61504" y="2331720"/>
            <a:ext cx="2468880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A4A4AA"/>
                </a:solidFill>
                <a:latin typeface="Calibri"/>
              </a:defRPr>
            </a:pPr>
            <a:r>
              <a:t>Positions the property in sleep-tourism and modern wellness without capital-heavy buildout.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" y="406908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F5F5F5"/>
                </a:solidFill>
                <a:latin typeface="Calibri"/>
              </a:defRPr>
            </a:pPr>
            <a:r>
              <a:t>OEM program</a:t>
            </a:r>
          </a:p>
          <a:p>
            <a:pPr>
              <a:spcAft>
                <a:spcPts val="1000"/>
              </a:spcAft>
              <a:defRPr sz="1400">
                <a:solidFill>
                  <a:srgbClr val="F5F5F5"/>
                </a:solidFill>
                <a:latin typeface="Calibri"/>
              </a:defRPr>
            </a:pPr>
            <a:r>
              <a:t>Private label: hotel-branded pouch, welcome-note insert, or co-branded Cults x property edition</a:t>
            </a:r>
          </a:p>
          <a:p>
            <a:pPr>
              <a:spcAft>
                <a:spcPts val="1000"/>
              </a:spcAft>
              <a:defRPr sz="1400">
                <a:solidFill>
                  <a:srgbClr val="F5F5F5"/>
                </a:solidFill>
                <a:latin typeface="Calibri"/>
              </a:defRPr>
            </a:pPr>
            <a:r>
              <a:t>Low minimums: batch runs through Thai manufacturing partners</a:t>
            </a:r>
          </a:p>
          <a:p>
            <a:pPr>
              <a:spcAft>
                <a:spcPts val="1000"/>
              </a:spcAft>
              <a:defRPr sz="1400">
                <a:solidFill>
                  <a:srgbClr val="F5F5F5"/>
                </a:solidFill>
                <a:latin typeface="Calibri"/>
              </a:defRPr>
            </a:pPr>
            <a:r>
              <a:t>Flexible fulfillment: single-property pilot or multi-property rollout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ults-neon-gradient-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3716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A4A4AA"/>
                </a:solidFill>
                <a:latin typeface="Calibri"/>
              </a:defRPr>
            </a:pPr>
            <a:r>
              <a:t>@drinkcults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23960" y="137160"/>
            <a:ext cx="3017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4A4AA"/>
                </a:solidFill>
                <a:latin typeface="Calibri"/>
              </a:defRPr>
            </a:pPr>
            <a:r>
              <a:t>Business use  -  Highly confidential</a:t>
            </a:r>
          </a:p>
        </p:txBody>
      </p:sp>
      <p:pic>
        <p:nvPicPr>
          <p:cNvPr id="7" name="Picture 6" descr="cults-star-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731520"/>
            <a:ext cx="201168" cy="201168"/>
          </a:xfrm>
          <a:prstGeom prst="rect">
            <a:avLst/>
          </a:prstGeom>
        </p:spPr>
      </p:pic>
      <p:pic>
        <p:nvPicPr>
          <p:cNvPr id="8" name="Picture 7" descr="cults-star-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5720" y="841248"/>
            <a:ext cx="164592" cy="164592"/>
          </a:xfrm>
          <a:prstGeom prst="rect">
            <a:avLst/>
          </a:prstGeom>
        </p:spPr>
      </p:pic>
      <p:pic>
        <p:nvPicPr>
          <p:cNvPr id="9" name="Picture 8" descr="cults-star-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6263640"/>
            <a:ext cx="164592" cy="16459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85800" y="658368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900" b="1">
                <a:solidFill>
                  <a:srgbClr val="F02D8C"/>
                </a:solidFill>
                <a:latin typeface="Calibri"/>
              </a:defRPr>
            </a:pPr>
            <a:r>
              <a:t>Marketing support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60020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F5F5F5"/>
                </a:solidFill>
                <a:latin typeface="Calibri"/>
              </a:defRPr>
            </a:pPr>
            <a:r>
              <a:t>Where to find Cults</a:t>
            </a:r>
          </a:p>
          <a:p>
            <a:pPr>
              <a:spcAft>
                <a:spcPts val="1000"/>
              </a:spcAft>
              <a:defRPr sz="1400">
                <a:solidFill>
                  <a:srgbClr val="F5F5F5"/>
                </a:solidFill>
                <a:latin typeface="Calibri"/>
              </a:defRPr>
            </a:pPr>
            <a:r>
              <a:t>Partner-hotel discovery posts across our channels and booking-page referrals.</a:t>
            </a:r>
          </a:p>
          <a:p>
            <a:pPr>
              <a:spcAft>
                <a:spcPts val="1000"/>
              </a:spcAft>
              <a:defRPr sz="1400">
                <a:solidFill>
                  <a:srgbClr val="F5F5F5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400">
                <a:solidFill>
                  <a:srgbClr val="F5F5F5"/>
                </a:solidFill>
                <a:latin typeface="Calibri"/>
              </a:defRPr>
            </a:pPr>
            <a:r>
              <a:t>In-room QR, post-stay flywheel</a:t>
            </a:r>
          </a:p>
          <a:p>
            <a:pPr>
              <a:spcAft>
                <a:spcPts val="1000"/>
              </a:spcAft>
              <a:defRPr sz="1400">
                <a:solidFill>
                  <a:srgbClr val="F5F5F5"/>
                </a:solidFill>
                <a:latin typeface="Calibri"/>
              </a:defRPr>
            </a:pPr>
            <a:r>
              <a:t>QR on pouch links guests to your property story and our direct channel.</a:t>
            </a:r>
          </a:p>
          <a:p>
            <a:pPr>
              <a:spcAft>
                <a:spcPts val="1000"/>
              </a:spcAft>
              <a:defRPr sz="1400">
                <a:solidFill>
                  <a:srgbClr val="F5F5F5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400">
                <a:solidFill>
                  <a:srgbClr val="F5F5F5"/>
                </a:solidFill>
                <a:latin typeface="Calibri"/>
              </a:defRPr>
            </a:pPr>
            <a:r>
              <a:t>Always-on content</a:t>
            </a:r>
          </a:p>
          <a:p>
            <a:pPr>
              <a:spcAft>
                <a:spcPts val="1000"/>
              </a:spcAft>
              <a:defRPr sz="1400">
                <a:solidFill>
                  <a:srgbClr val="F5F5F5"/>
                </a:solidFill>
                <a:latin typeface="Calibri"/>
              </a:defRPr>
            </a:pPr>
            <a:r>
              <a:t>Founder-led social + creator seeding around real hotel stays.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737360"/>
            <a:ext cx="5120640" cy="4206240"/>
          </a:xfrm>
          <a:prstGeom prst="rect">
            <a:avLst/>
          </a:prstGeom>
          <a:solidFill>
            <a:srgbClr val="16161C"/>
          </a:solidFill>
          <a:ln>
            <a:solidFill>
              <a:srgbClr val="BADB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920240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BADB44"/>
                </a:solidFill>
                <a:latin typeface="Calibri"/>
              </a:defRPr>
            </a:pPr>
            <a:r>
              <a:t>Marketing approach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468880"/>
            <a:ext cx="4663440" cy="3291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A4A4AA"/>
                </a:solidFill>
                <a:latin typeface="Calibri"/>
              </a:defRPr>
            </a:pPr>
            <a:r>
              <a:t>High-visibility pilot launch at your property events and wellness moments.</a:t>
            </a:r>
          </a:p>
          <a:p>
            <a:pPr>
              <a:spcAft>
                <a:spcPts val="600"/>
              </a:spcAft>
              <a:defRPr sz="1300">
                <a:solidFill>
                  <a:srgbClr val="A4A4AA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A4A4AA"/>
                </a:solidFill>
                <a:latin typeface="Calibri"/>
              </a:defRPr>
            </a:pPr>
            <a:r>
              <a:t>Acquisition:</a:t>
            </a:r>
          </a:p>
          <a:p>
            <a:pPr>
              <a:spcAft>
                <a:spcPts val="600"/>
              </a:spcAft>
              <a:defRPr sz="1300">
                <a:solidFill>
                  <a:srgbClr val="A4A4AA"/>
                </a:solidFill>
                <a:latin typeface="Calibri"/>
              </a:defRPr>
            </a:pPr>
            <a:r>
              <a:t>social + hospitality media + hotel group intros</a:t>
            </a:r>
          </a:p>
          <a:p>
            <a:pPr>
              <a:spcAft>
                <a:spcPts val="600"/>
              </a:spcAft>
              <a:defRPr sz="1300">
                <a:solidFill>
                  <a:srgbClr val="A4A4AA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A4A4AA"/>
                </a:solidFill>
                <a:latin typeface="Calibri"/>
              </a:defRPr>
            </a:pPr>
            <a:r>
              <a:t>Engagement:</a:t>
            </a:r>
          </a:p>
          <a:p>
            <a:pPr>
              <a:spcAft>
                <a:spcPts val="600"/>
              </a:spcAft>
              <a:defRPr sz="1300">
                <a:solidFill>
                  <a:srgbClr val="A4A4AA"/>
                </a:solidFill>
                <a:latin typeface="Calibri"/>
              </a:defRPr>
            </a:pPr>
            <a:r>
              <a:t>in-room QR and guest-generated content moments</a:t>
            </a:r>
          </a:p>
          <a:p>
            <a:pPr>
              <a:spcAft>
                <a:spcPts val="600"/>
              </a:spcAft>
              <a:defRPr sz="1300">
                <a:solidFill>
                  <a:srgbClr val="A4A4AA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A4A4AA"/>
                </a:solidFill>
                <a:latin typeface="Calibri"/>
              </a:defRPr>
            </a:pPr>
            <a:r>
              <a:t>Repurchase:</a:t>
            </a:r>
          </a:p>
          <a:p>
            <a:pPr>
              <a:spcAft>
                <a:spcPts val="600"/>
              </a:spcAft>
              <a:defRPr sz="1300">
                <a:solidFill>
                  <a:srgbClr val="A4A4AA"/>
                </a:solidFill>
                <a:latin typeface="Calibri"/>
              </a:defRPr>
            </a:pPr>
            <a:r>
              <a:t>direct-to-consumer reorder path with hotel referral credit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ults-neon-gradient-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3716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A4A4AA"/>
                </a:solidFill>
                <a:latin typeface="Calibri"/>
              </a:defRPr>
            </a:pPr>
            <a:r>
              <a:t>@drinkcults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23960" y="137160"/>
            <a:ext cx="3017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4A4AA"/>
                </a:solidFill>
                <a:latin typeface="Calibri"/>
              </a:defRPr>
            </a:pPr>
            <a:r>
              <a:t>Business use  -  Highly confidential</a:t>
            </a:r>
          </a:p>
        </p:txBody>
      </p:sp>
      <p:pic>
        <p:nvPicPr>
          <p:cNvPr id="7" name="Picture 6" descr="cults-star-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731520"/>
            <a:ext cx="201168" cy="201168"/>
          </a:xfrm>
          <a:prstGeom prst="rect">
            <a:avLst/>
          </a:prstGeom>
        </p:spPr>
      </p:pic>
      <p:pic>
        <p:nvPicPr>
          <p:cNvPr id="8" name="Picture 7" descr="cults-star-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5720" y="841248"/>
            <a:ext cx="164592" cy="164592"/>
          </a:xfrm>
          <a:prstGeom prst="rect">
            <a:avLst/>
          </a:prstGeom>
        </p:spPr>
      </p:pic>
      <p:pic>
        <p:nvPicPr>
          <p:cNvPr id="9" name="Picture 8" descr="cults-star-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6263640"/>
            <a:ext cx="164592" cy="16459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85800" y="658368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900" b="1">
                <a:solidFill>
                  <a:srgbClr val="F02D8C"/>
                </a:solidFill>
                <a:latin typeface="Calibri"/>
              </a:defRPr>
            </a:pPr>
            <a:r>
              <a:t>Pilot rollout and commercial model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" y="1645920"/>
            <a:ext cx="3520440" cy="4114800"/>
          </a:xfrm>
          <a:prstGeom prst="rect">
            <a:avLst/>
          </a:prstGeom>
          <a:solidFill>
            <a:srgbClr val="16161C"/>
          </a:solidFill>
          <a:ln>
            <a:solidFill>
              <a:srgbClr val="F02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1828800"/>
            <a:ext cx="3063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02D8C"/>
                </a:solidFill>
                <a:latin typeface="Calibri"/>
              </a:defRPr>
            </a:pPr>
            <a:r>
              <a:t>Phase 1</a:t>
            </a:r>
            <a:br/>
            <a:r>
              <a:t>30-day pilot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377440"/>
            <a:ext cx="30632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A4A4AA"/>
                </a:solidFill>
                <a:latin typeface="Calibri"/>
              </a:defRPr>
            </a:pPr>
            <a:r>
              <a:t>2-3 room categories</a:t>
            </a:r>
          </a:p>
          <a:p>
            <a:pPr>
              <a:spcAft>
                <a:spcPts val="600"/>
              </a:spcAft>
              <a:defRPr sz="1300">
                <a:solidFill>
                  <a:srgbClr val="A4A4AA"/>
                </a:solidFill>
                <a:latin typeface="Calibri"/>
              </a:defRPr>
            </a:pPr>
            <a:r>
              <a:t>100-300 pouches</a:t>
            </a:r>
          </a:p>
          <a:p>
            <a:pPr>
              <a:spcAft>
                <a:spcPts val="600"/>
              </a:spcAft>
              <a:defRPr sz="1300">
                <a:solidFill>
                  <a:srgbClr val="A4A4AA"/>
                </a:solidFill>
                <a:latin typeface="Calibri"/>
              </a:defRPr>
            </a:pPr>
            <a:r>
              <a:t>Guest feedback + reorder signal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26280" y="1645920"/>
            <a:ext cx="3520440" cy="4114800"/>
          </a:xfrm>
          <a:prstGeom prst="rect">
            <a:avLst/>
          </a:prstGeom>
          <a:solidFill>
            <a:srgbClr val="16161C"/>
          </a:solidFill>
          <a:ln>
            <a:solidFill>
              <a:srgbClr val="BADB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0" y="1828800"/>
            <a:ext cx="3063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BADB44"/>
                </a:solidFill>
                <a:latin typeface="Calibri"/>
              </a:defRPr>
            </a:pPr>
            <a:r>
              <a:t>Phase 2</a:t>
            </a:r>
            <a:br/>
            <a:r>
              <a:t>90-day scale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2377440"/>
            <a:ext cx="30632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A4A4AA"/>
                </a:solidFill>
                <a:latin typeface="Calibri"/>
              </a:defRPr>
            </a:pPr>
            <a:r>
              <a:t>Full floor or full property</a:t>
            </a:r>
          </a:p>
          <a:p>
            <a:pPr>
              <a:spcAft>
                <a:spcPts val="600"/>
              </a:spcAft>
              <a:defRPr sz="1300">
                <a:solidFill>
                  <a:srgbClr val="A4A4AA"/>
                </a:solidFill>
                <a:latin typeface="Calibri"/>
              </a:defRPr>
            </a:pPr>
            <a:r>
              <a:t>Co-branded inserts and QR journey</a:t>
            </a:r>
          </a:p>
          <a:p>
            <a:pPr>
              <a:spcAft>
                <a:spcPts val="600"/>
              </a:spcAft>
              <a:defRPr sz="1300">
                <a:solidFill>
                  <a:srgbClr val="A4A4AA"/>
                </a:solidFill>
                <a:latin typeface="Calibri"/>
              </a:defRPr>
            </a:pPr>
            <a:r>
              <a:t>Monthly optimization check-ins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83879" y="1645920"/>
            <a:ext cx="3063240" cy="4114800"/>
          </a:xfrm>
          <a:prstGeom prst="rect">
            <a:avLst/>
          </a:prstGeom>
          <a:solidFill>
            <a:srgbClr val="16161C"/>
          </a:solidFill>
          <a:ln>
            <a:solidFill>
              <a:srgbClr val="F48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0" y="1828800"/>
            <a:ext cx="2606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48434"/>
                </a:solidFill>
                <a:latin typeface="Calibri"/>
              </a:defRPr>
            </a:pPr>
            <a:r>
              <a:t>Commercial terms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2377440"/>
            <a:ext cx="26060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A4A4AA"/>
                </a:solidFill>
                <a:latin typeface="Calibri"/>
              </a:defRPr>
            </a:pPr>
            <a:r>
              <a:t>OEM or co-branded options</a:t>
            </a:r>
          </a:p>
          <a:p>
            <a:pPr>
              <a:spcAft>
                <a:spcPts val="600"/>
              </a:spcAft>
              <a:defRPr sz="1300">
                <a:solidFill>
                  <a:srgbClr val="A4A4AA"/>
                </a:solidFill>
                <a:latin typeface="Calibri"/>
              </a:defRPr>
            </a:pPr>
            <a:r>
              <a:t>Low MOQs via local production</a:t>
            </a:r>
          </a:p>
          <a:p>
            <a:pPr>
              <a:spcAft>
                <a:spcPts val="600"/>
              </a:spcAft>
              <a:defRPr sz="1300">
                <a:solidFill>
                  <a:srgbClr val="A4A4AA"/>
                </a:solidFill>
                <a:latin typeface="Calibri"/>
              </a:defRPr>
            </a:pPr>
            <a:r>
              <a:t>Simple reorder cadence</a:t>
            </a:r>
          </a:p>
          <a:p>
            <a:pPr>
              <a:spcAft>
                <a:spcPts val="600"/>
              </a:spcAft>
              <a:defRPr sz="1300">
                <a:solidFill>
                  <a:srgbClr val="A4A4AA"/>
                </a:solidFill>
                <a:latin typeface="Calibri"/>
              </a:defRPr>
            </a:pPr>
            <a:r>
              <a:t>Protected margin architecture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897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500">
                <a:solidFill>
                  <a:srgbClr val="F5F5F5"/>
                </a:solidFill>
                <a:latin typeface="Calibri"/>
              </a:defRPr>
            </a:pPr>
            <a:r>
              <a:t>Target outcome: one Cults pouch in every room that needs better recovery and deeper sleep.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ults-neon-gradient-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ults-room-lifesty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3716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A4A4AA"/>
                </a:solidFill>
                <a:latin typeface="Calibri"/>
              </a:defRPr>
            </a:pPr>
            <a:r>
              <a:t>@drinkcults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23960" y="137160"/>
            <a:ext cx="3017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4A4AA"/>
                </a:solidFill>
                <a:latin typeface="Calibri"/>
              </a:defRPr>
            </a:pPr>
            <a:r>
              <a:t>Business use  -  Highly confidential</a:t>
            </a:r>
          </a:p>
        </p:txBody>
      </p:sp>
      <p:pic>
        <p:nvPicPr>
          <p:cNvPr id="9" name="Picture 8" descr="cults-star-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731520"/>
            <a:ext cx="201168" cy="201168"/>
          </a:xfrm>
          <a:prstGeom prst="rect">
            <a:avLst/>
          </a:prstGeom>
        </p:spPr>
      </p:pic>
      <p:pic>
        <p:nvPicPr>
          <p:cNvPr id="10" name="Picture 9" descr="cults-star-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75720" y="841248"/>
            <a:ext cx="164592" cy="164592"/>
          </a:xfrm>
          <a:prstGeom prst="rect">
            <a:avLst/>
          </a:prstGeom>
        </p:spPr>
      </p:pic>
      <p:pic>
        <p:nvPicPr>
          <p:cNvPr id="11" name="Picture 10" descr="cults-star-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0" y="6263640"/>
            <a:ext cx="164592" cy="16459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234440" y="2331720"/>
            <a:ext cx="9875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5200">
                <a:solidFill>
                  <a:srgbClr val="F02D8C"/>
                </a:solidFill>
                <a:latin typeface="Calibri"/>
              </a:defRPr>
            </a:pPr>
            <a:r>
              <a:t>Be the first hotel to put deep sleep in every room.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822191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600">
                <a:solidFill>
                  <a:srgbClr val="A4A4AA"/>
                </a:solidFill>
                <a:latin typeface="Calibri"/>
              </a:defRPr>
            </a:pPr>
            <a:r>
              <a:t>Join the sleep-tourism wave with a single, honest pouch guests remember.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03320" y="4617720"/>
            <a:ext cx="4754880" cy="594360"/>
          </a:xfrm>
          <a:prstGeom prst="rect">
            <a:avLst/>
          </a:prstGeom>
          <a:solidFill>
            <a:srgbClr val="08080C"/>
          </a:solidFill>
          <a:ln>
            <a:solidFill>
              <a:srgbClr val="BADB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BADB44"/>
                </a:solidFill>
                <a:latin typeface="Calibri"/>
              </a:defRPr>
            </a:pPr>
            <a:r>
              <a:t>RECOVER LIKE YOU MEAN IT  -  CULTS OEM HOTEL PROGRAM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