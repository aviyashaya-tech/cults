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91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6400">
                <a:solidFill>
                  <a:srgbClr val="F02D8C"/>
                </a:solidFill>
                <a:latin typeface="Calibri"/>
              </a:defRPr>
            </a:pPr>
            <a:r>
              <a:t>CULTS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400">
                <a:solidFill>
                  <a:srgbClr val="BADB44"/>
                </a:solidFill>
                <a:latin typeface="Calibri"/>
              </a:defRPr>
            </a:pPr>
            <a:r>
              <a:t>ADAPTOGEN GUMMIES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A4A4AA"/>
                </a:solidFill>
                <a:latin typeface="Calibri"/>
              </a:defRPr>
            </a:pPr>
            <a:r>
              <a:t>Recovery Ritual  -  OEM partnership proposal for boutique and luxury hotels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4023360"/>
            <a:ext cx="3840480" cy="502920"/>
          </a:xfrm>
          <a:prstGeom prst="rect">
            <a:avLst/>
          </a:prstGeom>
          <a:solidFill>
            <a:srgbClr val="08080C"/>
          </a:solidFill>
          <a:ln>
            <a:solidFill>
              <a:srgbClr val="F48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48434"/>
                </a:solidFill>
                <a:latin typeface="Calibri"/>
              </a:defRPr>
            </a:pPr>
            <a:r>
              <a:t>RECOVER LIKE YOU MEAN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Brief business overview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Cults makes functional gummies for modern travelers who want recovery and deeper sleep without the clinical wellness aesthetic.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Vision statement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To become the in-room ritual guests trust the moment their trip starts to tax their body and sleep cycle.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Mission statement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Put one honest, effective pouch in every room that needs a fast, feel-good reset.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4892040" cy="4389120"/>
          </a:xfrm>
          <a:prstGeom prst="rect">
            <a:avLst/>
          </a:prstGeom>
          <a:solidFill>
            <a:srgbClr val="16161C"/>
          </a:solidFill>
          <a:ln>
            <a:solidFill>
              <a:srgbClr val="F02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434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02D8C"/>
                </a:solidFill>
                <a:latin typeface="Calibri"/>
              </a:defRPr>
            </a:pPr>
            <a:r>
              <a:t>What's in the pouch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77440"/>
            <a:ext cx="4434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Deep Sleep blend: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reishi + ashwagandha + magnesium + passionflower + l-theanine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Recovery blend: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cordyceps + tart cherry + turmeric + mangosteen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No powders. No capsules. No fake pharma voice.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Just one premium pouch guests can actually enjoy using.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Cults is a Thai functional gummy brand built for people who think wellness can be real, stylish, and simple.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For hotels, that becomes a guest-facing amenity that helps jet-lagged, over-worked, over-social guests sleep and recover faster.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Best-fit guest moments: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- First night, post-flight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- Post-gym or spa recovery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- Wind-down after late dinner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- Early call-time, next-day reset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1783080"/>
            <a:ext cx="2743200" cy="1874519"/>
          </a:xfrm>
          <a:prstGeom prst="rect">
            <a:avLst/>
          </a:prstGeom>
          <a:solidFill>
            <a:srgbClr val="16161C"/>
          </a:solidFill>
          <a:ln>
            <a:solidFill>
              <a:srgbClr val="F02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9659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02D8C"/>
                </a:solidFill>
                <a:latin typeface="Calibri"/>
              </a:defRPr>
            </a:pPr>
            <a:r>
              <a:t>Boutique city hotel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14600"/>
            <a:ext cx="228600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Amenity drawer, turn-down tray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42832" y="1783080"/>
            <a:ext cx="2331720" cy="1874519"/>
          </a:xfrm>
          <a:prstGeom prst="rect">
            <a:avLst/>
          </a:prstGeom>
          <a:solidFill>
            <a:srgbClr val="16161C"/>
          </a:solidFill>
          <a:ln>
            <a:solidFill>
              <a:srgbClr val="F48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71432" y="1965960"/>
            <a:ext cx="1874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48434"/>
                </a:solidFill>
                <a:latin typeface="Calibri"/>
              </a:defRPr>
            </a:pPr>
            <a:r>
              <a:t>Wellness resort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1432" y="2514600"/>
            <a:ext cx="1874519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Spa gift shop, retreat welcome kit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840480"/>
            <a:ext cx="2743200" cy="1874519"/>
          </a:xfrm>
          <a:prstGeom prst="rect">
            <a:avLst/>
          </a:prstGeom>
          <a:solidFill>
            <a:srgbClr val="16161C"/>
          </a:solidFill>
          <a:ln>
            <a:solidFill>
              <a:srgbClr val="BAD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0233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ADB44"/>
                </a:solidFill>
                <a:latin typeface="Calibri"/>
              </a:defRPr>
            </a:pPr>
            <a:r>
              <a:t>Business hotel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572000"/>
            <a:ext cx="228600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Executive floor minibar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42832" y="3840480"/>
            <a:ext cx="2331720" cy="1874519"/>
          </a:xfrm>
          <a:prstGeom prst="rect">
            <a:avLst/>
          </a:prstGeom>
          <a:solidFill>
            <a:srgbClr val="16161C"/>
          </a:solidFill>
          <a:ln>
            <a:solidFill>
              <a:srgbClr val="A5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4023360"/>
            <a:ext cx="1874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55DFF"/>
                </a:solidFill>
                <a:latin typeface="Calibri"/>
              </a:defRPr>
            </a:pPr>
            <a:r>
              <a:t>Private villa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4572000"/>
            <a:ext cx="1874519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Welcome hamper, concierge upsell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Sleep tourism is now a leading driver of premium-stay booking behavior.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Hotels are actively searching for low-friction in-room wellness amenities.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5577840" cy="2743200"/>
          </a:xfrm>
          <a:prstGeom prst="rect">
            <a:avLst/>
          </a:prstGeom>
          <a:solidFill>
            <a:srgbClr val="16161C"/>
          </a:solidFill>
          <a:ln>
            <a:solidFill>
              <a:srgbClr val="F48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48434"/>
                </a:solidFill>
                <a:latin typeface="Calibri"/>
              </a:defRPr>
            </a:pPr>
            <a:r>
              <a:t>Why Cults fits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5661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The shelf is crowded with generic minibar items.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Cults gives properties a premium, photogenic recovery touchpoint.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Crafted in Thailand with real ingredients and modern design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$369B</a:t>
            </a: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global luxury hotel market by 2032</a:t>
            </a: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9%</a:t>
            </a: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growth in functional wellness beverage/ritual demand</a:t>
            </a: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23%</a:t>
            </a: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of guests say personalized stay amenities increase satisfaction</a:t>
            </a: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200">
                <a:solidFill>
                  <a:srgbClr val="BADB44"/>
                </a:solidFill>
                <a:latin typeface="Calibri"/>
              </a:defRPr>
            </a:pPr>
            <a:r>
              <a:t>Cults gives hotels one SKU that is easy to deploy and easy to talk about.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Target hotel partners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508760"/>
            <a:ext cx="10881360" cy="36576"/>
          </a:xfrm>
          <a:prstGeom prst="rect">
            <a:avLst/>
          </a:prstGeom>
          <a:solidFill>
            <a:srgbClr val="BAD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Primary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Boutique and lifestyle hotels in Bangkok, Phuket, Chiang Mai, Koh Samui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Wellness resorts and spa retreats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Properties already investing in sleep and recovery programming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Independent luxury properties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Fast decision-making, no heavy procurement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Secondary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International chain wellness floors and executive tiers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Private villa and estate management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Welcome hampers, concierge bundles, in-villa recovery packs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Corporate wellness retreats and off-sites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Bulk gifting and premium room-drop moments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349240"/>
            <a:ext cx="10927080" cy="1005840"/>
          </a:xfrm>
          <a:prstGeom prst="rect">
            <a:avLst/>
          </a:prstGeom>
          <a:solidFill>
            <a:srgbClr val="16161C"/>
          </a:solidFill>
          <a:ln>
            <a:solidFill>
              <a:srgbClr val="F02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532120"/>
            <a:ext cx="10469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02D8C"/>
                </a:solidFill>
                <a:latin typeface="Calibri"/>
              </a:defRPr>
            </a:pPr>
            <a:r>
              <a:t>The guest they're serving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080759"/>
            <a:ext cx="104698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Long-haul arrivals fighting jet lag, wellness-forward travelers, busy executives, and social travelers who want a premium reset without effort.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Our value to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904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Calibri"/>
              </a:defRPr>
            </a:pPr>
            <a:r>
              <a:t>The first true in-room recovery amenity in Thailand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965960"/>
            <a:ext cx="2926080" cy="2926080"/>
          </a:xfrm>
          <a:prstGeom prst="ellipse">
            <a:avLst/>
          </a:prstGeom>
          <a:solidFill>
            <a:srgbClr val="16161C"/>
          </a:solidFill>
          <a:ln w="27940">
            <a:solidFill>
              <a:srgbClr val="F02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F5F5F5"/>
                </a:solidFill>
                <a:latin typeface="Calibri"/>
              </a:defRPr>
            </a:pPr>
            <a:r>
              <a:t>Low-cost, high-value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365760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A4A4AA"/>
                </a:solidFill>
                <a:latin typeface="Calibri"/>
              </a:defRPr>
            </a:pPr>
            <a:r>
              <a:t>One pouch, priced like a thoughtful add-on, felt like a premium ritual.</a:t>
            </a:r>
          </a:p>
        </p:txBody>
      </p:sp>
      <p:sp>
        <p:nvSpPr>
          <p:cNvPr id="10" name="Oval 9"/>
          <p:cNvSpPr/>
          <p:nvPr/>
        </p:nvSpPr>
        <p:spPr>
          <a:xfrm>
            <a:off x="4069080" y="1965960"/>
            <a:ext cx="2926080" cy="2926080"/>
          </a:xfrm>
          <a:prstGeom prst="ellipse">
            <a:avLst/>
          </a:prstGeom>
          <a:solidFill>
            <a:srgbClr val="16161C"/>
          </a:solidFill>
          <a:ln w="27940">
            <a:solidFill>
              <a:srgbClr val="BAD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F5F5F5"/>
                </a:solidFill>
                <a:latin typeface="Calibri"/>
              </a:defRPr>
            </a:pPr>
            <a:r>
              <a:t>Effortless ritual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365760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A4A4AA"/>
                </a:solidFill>
                <a:latin typeface="Calibri"/>
              </a:defRPr>
            </a:pPr>
            <a:r>
              <a:t>No blending. No prep. Tear, eat, and wind down before lights out.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0" y="1965960"/>
            <a:ext cx="2926080" cy="2926080"/>
          </a:xfrm>
          <a:prstGeom prst="ellipse">
            <a:avLst/>
          </a:prstGeom>
          <a:solidFill>
            <a:srgbClr val="16161C"/>
          </a:solidFill>
          <a:ln w="27940">
            <a:solidFill>
              <a:srgbClr val="F48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F5F5F5"/>
                </a:solidFill>
                <a:latin typeface="Calibri"/>
              </a:defRPr>
            </a:pPr>
            <a:r>
              <a:t>Real ingredients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365760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A4A4AA"/>
                </a:solidFill>
                <a:latin typeface="Calibri"/>
              </a:defRPr>
            </a:pPr>
            <a:r>
              <a:t>Botanicals, mushrooms, tart cherry, magnesium, and tropical fruit.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Our value to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600200"/>
            <a:ext cx="2926080" cy="2103120"/>
          </a:xfrm>
          <a:prstGeom prst="rect">
            <a:avLst/>
          </a:prstGeom>
          <a:solidFill>
            <a:srgbClr val="16161C"/>
          </a:solidFill>
          <a:ln>
            <a:solidFill>
              <a:srgbClr val="F48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48434"/>
                </a:solidFill>
                <a:latin typeface="Calibri"/>
              </a:defRPr>
            </a:pPr>
            <a:r>
              <a:t>1. Guest experience upgrade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24688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A recovery ritual that photographs beautifully and genuinely helps guests reset.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50791" y="1600200"/>
            <a:ext cx="2926080" cy="2103120"/>
          </a:xfrm>
          <a:prstGeom prst="rect">
            <a:avLst/>
          </a:prstGeom>
          <a:solidFill>
            <a:srgbClr val="16161C"/>
          </a:solidFill>
          <a:ln>
            <a:solidFill>
              <a:srgbClr val="BAD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178308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ADB44"/>
                </a:solidFill>
                <a:latin typeface="Calibri"/>
              </a:defRPr>
            </a:pPr>
            <a:r>
              <a:t>2. Low cost, high perceived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9392" y="2331720"/>
            <a:ext cx="24688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Priced like a premium turn-down treat, felt like a top-tier amenity.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2904" y="1600200"/>
            <a:ext cx="2926080" cy="2103120"/>
          </a:xfrm>
          <a:prstGeom prst="rect">
            <a:avLst/>
          </a:prstGeom>
          <a:solidFill>
            <a:srgbClr val="16161C"/>
          </a:solidFill>
          <a:ln>
            <a:solidFill>
              <a:srgbClr val="F02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1504" y="178308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02D8C"/>
                </a:solidFill>
                <a:latin typeface="Calibri"/>
              </a:defRPr>
            </a:pPr>
            <a:r>
              <a:t>3. A story your team can 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61504" y="2331720"/>
            <a:ext cx="24688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Positions the property in sleep-tourism and modern wellness without capital-heavy buildout.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69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OEM program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Private label: hotel-branded pouch, welcome-note insert, or co-branded Cults x property edition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Low minimums: batch runs through Thai manufacturing partners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Flexible fulfillment: single-property pilot or multi-property rollout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Marketing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Where to find Cults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Partner-hotel discovery posts across our channels and booking-page referrals.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In-room QR, post-stay flywheel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QR on pouch links guests to your property story and our direct channel.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Always-on content</a:t>
            </a:r>
          </a:p>
          <a:p>
            <a:pPr>
              <a:spcAft>
                <a:spcPts val="1000"/>
              </a:spcAft>
              <a:defRPr sz="1400">
                <a:solidFill>
                  <a:srgbClr val="F5F5F5"/>
                </a:solidFill>
                <a:latin typeface="Calibri"/>
              </a:defRPr>
            </a:pPr>
            <a:r>
              <a:t>Founder-led social + creator seeding around real hotel stays.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37360"/>
            <a:ext cx="5120640" cy="4206240"/>
          </a:xfrm>
          <a:prstGeom prst="rect">
            <a:avLst/>
          </a:prstGeom>
          <a:solidFill>
            <a:srgbClr val="16161C"/>
          </a:solidFill>
          <a:ln>
            <a:solidFill>
              <a:srgbClr val="BAD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ADB44"/>
                </a:solidFill>
                <a:latin typeface="Calibri"/>
              </a:defRPr>
            </a:pPr>
            <a:r>
              <a:t>Marketing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468880"/>
            <a:ext cx="4663440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High-visibility pilot launch at your property events and wellness moments.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Acquisition: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social + hospitality media + hotel group intros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Engagement: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in-room QR and guest-generated content moments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Repurchase: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direct-to-consumer reorder path with hotel referral credit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02D8C"/>
                </a:solidFill>
                <a:latin typeface="Calibri"/>
              </a:defRPr>
            </a:pPr>
            <a:r>
              <a:t>Pilot rollout and commercial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645920"/>
            <a:ext cx="3520440" cy="4114800"/>
          </a:xfrm>
          <a:prstGeom prst="rect">
            <a:avLst/>
          </a:prstGeom>
          <a:solidFill>
            <a:srgbClr val="16161C"/>
          </a:solidFill>
          <a:ln>
            <a:solidFill>
              <a:srgbClr val="F02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02D8C"/>
                </a:solidFill>
                <a:latin typeface="Calibri"/>
              </a:defRPr>
            </a:pPr>
            <a:r>
              <a:t>Phase 1</a:t>
            </a:r>
            <a:br/>
            <a:r>
              <a:t>30-day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2-3 room categories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100-300 pouches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Guest feedback + reorder signal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1645920"/>
            <a:ext cx="3520440" cy="4114800"/>
          </a:xfrm>
          <a:prstGeom prst="rect">
            <a:avLst/>
          </a:prstGeom>
          <a:solidFill>
            <a:srgbClr val="16161C"/>
          </a:solidFill>
          <a:ln>
            <a:solidFill>
              <a:srgbClr val="BAD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828800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ADB44"/>
                </a:solidFill>
                <a:latin typeface="Calibri"/>
              </a:defRPr>
            </a:pPr>
            <a:r>
              <a:t>Phase 2</a:t>
            </a:r>
            <a:br/>
            <a:r>
              <a:t>90-day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37744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Full floor or full property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Co-branded inserts and QR journey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Monthly optimization check-ins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645920"/>
            <a:ext cx="3063240" cy="4114800"/>
          </a:xfrm>
          <a:prstGeom prst="rect">
            <a:avLst/>
          </a:prstGeom>
          <a:solidFill>
            <a:srgbClr val="16161C"/>
          </a:solidFill>
          <a:ln>
            <a:solidFill>
              <a:srgbClr val="F48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2606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48434"/>
                </a:solidFill>
                <a:latin typeface="Calibri"/>
              </a:defRPr>
            </a:pPr>
            <a:r>
              <a:t>Commercial terms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26060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OEM or co-branded options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Low MOQs via local production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Simple reorder cadence</a:t>
            </a:r>
          </a:p>
          <a:p>
            <a:pPr>
              <a:spcAft>
                <a:spcPts val="600"/>
              </a:spcAft>
              <a:defRPr sz="1300">
                <a:solidFill>
                  <a:srgbClr val="A4A4AA"/>
                </a:solidFill>
                <a:latin typeface="Calibri"/>
              </a:defRPr>
            </a:pPr>
            <a:r>
              <a:t>Protected margin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897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F5F5F5"/>
                </a:solidFill>
                <a:latin typeface="Calibri"/>
              </a:defRPr>
            </a:pPr>
            <a:r>
              <a:t>Target outcome: one Cults pouch in every room that needs better recovery and deeper sleep.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4A4AA"/>
                </a:solidFill>
                <a:latin typeface="Calibri"/>
              </a:defRPr>
            </a:pPr>
            <a:r>
              <a:t>@drinkcults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13716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4A4AA"/>
                </a:solidFill>
                <a:latin typeface="Calibri"/>
              </a:defRPr>
            </a:pPr>
            <a:r>
              <a:t>Business use  -  Highly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3172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5200">
                <a:solidFill>
                  <a:srgbClr val="F02D8C"/>
                </a:solidFill>
                <a:latin typeface="Calibri"/>
              </a:defRPr>
            </a:pPr>
            <a:r>
              <a:t>Be the first hotel to put deep sleep in every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22191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A4A4AA"/>
                </a:solidFill>
                <a:latin typeface="Calibri"/>
              </a:defRPr>
            </a:pPr>
            <a:r>
              <a:t>Join the sleep-tourism wave with a single, honest pouch guests remember.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4617720"/>
            <a:ext cx="4754880" cy="594360"/>
          </a:xfrm>
          <a:prstGeom prst="rect">
            <a:avLst/>
          </a:prstGeom>
          <a:solidFill>
            <a:srgbClr val="08080C"/>
          </a:solidFill>
          <a:ln>
            <a:solidFill>
              <a:srgbClr val="BAD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BADB44"/>
                </a:solidFill>
                <a:latin typeface="Calibri"/>
              </a:defRPr>
            </a:pPr>
            <a:r>
              <a:t>RECOVER LIKE YOU MEAN IT  -  CULTS OEM HOTEL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